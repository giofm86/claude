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Venerável Mestre, Irmãos Vigilantes, meus queridos Irmãos. Todos nós, ao entrar no Templo, já nos habituamos a ver, circundando as paredes ou desenhada no Painel da Loja, uma corda com nós, rematada por borlas que pendem nos ângulos. Por estar sempre presente, ela corre o risco de passar despercebida, e é justamente sobre ela que me proponho a falar hoje: a Corda de 81 Nós no Rito Brasileiro.
Antes de começar, uma advertência de honestidade. Em matéria de símbolos, não existe leitura única nem definitiva. Os rituais, os autores e as obediências divergem, e muitas explicações repetidas de livro em livro carecem de fonte documental segura. Procurarei, portanto, separar o que é praticamente consensual do que é interpretação, e apresentar esta como tal, para que cada Irmão forme o seu próprio juízo.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cordão com nós e borlas, tal como o conhecemos nas lojas, tem parentesco com os chamados laços de amor, enlaces de cordão que ornamentavam os templos na Maçonaria francesa do século XVIII. Dispostos ao redor da Loja, geralmente na parte alta das paredes, eles terminavam em borlas que desciam nos quatro cantos do Painel. É esse o desenho que vemos nos painéis de Companheiro e de Aprendiz, no qual a corda emoldura a cena e nela fecha, simbolicamente, o espaço da Loja. Na Maçonaria brasileira, esse cordão é conhecido pelo número de seus nós: oitenta e um.
Cabe mencionar, ainda, as borlas que arrematam a corda. Pendentes, em geral nos ângulos do Painel, elas suavizam o traçado rígido da cordoaria e acrescentam uma nota de beleza. Alguns as interpretam como a lembrança de que a corda, embora fechada em círculo, não é fechada à fraternidade: suas extremidades pendem como mãos estendidas aos que ainda virão. É uma leitura que me agrada, ainda que não possa afirmar ser a de todos os rituais. Em todo caso, mostra que o rigor do símbolo não elimina a ternura que ele também encerra.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corda é, antes de mais nada, um instrumento do ofício. Os construtores sempre a utilizaram para traçar alinhamentos, marcar fundações e medir terrenos. Os antigos construtores usavam cordas com nós igualmente espaçados para traçar ângulos retos. Com uma corda de doze nós, formavam um triângulo de lados três, quatro e cinco, e o canto entre os dois lados menores era um esquadro perfeito. Seja qual for a origem exata dessa prática, o fato é que a corda une em si duas ideias caras à Maçonaria: a medida e a retidão. Quem a estende traça um limite e, ao mesmo tempo, estabelece uma ordem.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que oitenta e um? A resposta mais difundida está na própria aritmética: oitenta e um é o produto de nove por nove e, ao mesmo tempo, três multiplicado por si mesmo quatro vezes. O três é o número do Aprendiz, da luz que se manifesta em três luzes, do triângulo, da sustentação da Loja pelos três pilares da Sabedoria, da Força e da Beleza. O nove, três vezes três, é entendido como a plenitude do ternário, o número que fecha um ciclo antes de recomeçar. Esse número nos é familiar em nossas sessões: quando um Irmão visitante é recebido, o Venerável Mestre o saúda por T.V.T., isto é, por três vezes três, saudação com que a Loja acolhe, na plenitude do número, aquele que chega. O oitenta e um, nove vezes nove, seria a plenitude da plenitude, a totalidade completa, aquilo a que nada falta. Eis a razão por que se costuma ver na corda uma imagem da universalidade.
Digo que se trata de uma interpretação, pois não conheço documento que fixe de modo inequívoco a razão histórica do número, e alguns autores lhe atribuem outros sentidos. O que há de consistente em todas essas leituras é a ideia de totalidade: uma corda com tantos nós não representa uma reunião casual, mas um conjunto completo e harmônico. Ela fala de uma cadeia pensada para abranger a todos.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Passemos ao nó. O nó, em qualquer cultura, é o gesto de ligar, de prender, de tornar duas coisas uma. Na corda da Loja, os nós são indissolúveis, entrelaçados de modo a não se desfazerem. Cada nó pode ser lido como um Irmão, e cada trecho de corda entre dois nós, como o vínculo que o prende ao seguinte. Ninguém está só: cada um sustenta e é sustentado. O Livro do Eclesiastes, ao tratar da amizade, afirma que o cordão de três dobras não se rompe facilmente. A Maçonaria, que tantas vezes se serve dessa sabedoria bíblica, ensina que uma corda se fortalece quando suas fibras se entrelaçam.
A cultura popular, aliás, conhece bem a força simbólica do nó. Em nossa língua, diz-se que se dá o nó em um casamento, que se amarra a palavra empenhada e que um pacto foi atado. Em muitas civilizações antigas, o nó serviu de selo, de juramento e de proteção. A Maçonaria, ao colocar em seu Templo uma corda cheia deles, não inventa essa linguagem: ela a recolhe e a aplica à fraternidade, fazendo do nó o sinal de um compromisso livremente assumido e mantido.
Há, porém, um aspecto que me parece especialmente instrutivo: a força de uma corda é a força do seu nó mais frágil. Basta que um só se afrouxe para que a cadeia inteira se comprometa. Essa imagem nos coloca diante de uma responsabilidade pessoal. Não somos apenas beneficiários da fraternidade, mas seus construtores. Cada falta injustificada, cada palavra dura dita ao Irmão, cada intriga tolerada e cada compromisso esquecido afrouxa um nó. Cada gesto de lealdade, de presença, de ajuda e de perdão o aperta.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Existe um momento, em nossas sessões, em que a imagem da corda deixa o Painel e se torna ação: a Cadeia de União. Quando os Irmãos, de pé e de mãos dadas, formam um círculo, cada um se torna, literalmente, um nó da corrente. A corda que circunda o Templo é a Cadeia de União tornada permanente, a lembrança constante, mesmo quando as mãos se separam, de que o laço continua. Por isso, ao sair de uma sessão, não deixamos a corda para trás: levamo-la conosco, na forma de lealdade e de lembrança dos Irmãos.
A corda tem, ainda, uma função de fronteira. Ao circundar o Templo, ela o separa do mundo profano e o convoca a ser o que é: um espaço de trabalho, de silêncio e de aperfeiçoamento. Uma leitura que encontrei, em fonte de divulgação, diz que a corda significa a amarração universal que os Irmãos fazem em torno do universo, representado pela humanidade. A ideia é bela e coerente com o que dissemos. A Loja é uma imagem do universo, a corda a envolve, e os Maçons, atados uns aos outros, abraçam simbolicamente a humanidade inteira. Fechamos a Loja, mas não para nos isolar: fechamo-la para fortalecer-nos, de modo que a força adquirida seja devolvida ao mundo em forma de bem.
A corda também nos fala de proteção. Ela circunda o Templo e, por assim dizer, o guarda. Mas a verdadeira guarda da Loja não é a corda de fibras, e sim a corda de afetos: a harmonia que reina entre os Irmãos, a reserva que mantemos sobre os trabalhos e a fidelidade ao juramento. Quando a harmonia se rompe, nenhuma corda de linho ou de seda impede que a Loja se desfaça. Quando ela existe, nenhuma tempestade profana consegue penetrá-la.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Dirijo-me, neste ponto, de modo especial aos Irmãos que fizeram da farda a sua vocação, mas a mensagem é de todos. A Pátria também é uma corda. Ela se compõe de gerações atadas umas às outras pela língua, pela história, pelo sacrifício e pelo trabalho de cada dia. E a nossa história mostra o entrelaçamento entre essas duas cordas. Em 1822, a Maçonaria esteve presente no processo que levou à Independência: José Bonifácio e Joaquim Gonçalves Ledo, ainda que divergissem quanto aos caminhos, foram figuras centrais do Grande Oriente da época, e o próprio príncipe Dom Pedro foi iniciado em 2 de agosto daquele ano. Na proclamação da República, o marechal Deodoro da Fonseca, segundo diversas fontes, exerceu também o Grão-Mestrado do Grande Oriente do Brasil. Não afirmo, com isso, que a Maçonaria seja dona da história nacional, nem que lhe caiba a política partidária, que lhe é vedada. Afirmo apenas que homens atados por esses nós sempre entenderam que servir à Pátria é consequência natural do compromisso fraterno.
Aos militares aqui presentes, o símbolo fala uma linguagem que conhecem bem. A cadeia de comando e a Cadeia de União têm em comum o que há de mais precioso na vida de uma corporação: a disciplina, a hierarquia entendida como serviço, a lealdade ao companheiro de farda e a certeza de que ninguém vence sozinho. O soldado que confia no camarada ao seu lado e o Maçom que confia no Irmão à sua mão sabem que a força de uma tropa, como a de uma corda, é a força de seu elo mais frágil e a firmeza de todos. E o Maçom, civil ou militar, aprende no Templo que o amor à Pátria se mede menos pela exaltação das palavras do que pelo trabalho honesto, pelo respeito às leis, pela palavra cumprida e pelo cuidado com o semelhante.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Observemos, agora, a corda segundo os graus. O Aprendiz, ao ser recebido, é como o fio que começa a ser torcido: ainda solto, ainda a aprender o que é pertencer a uma corporação. O Companheiro, que estuda e trabalha, é o fio que se entrelaça aos demais, firmando-se na rede de relações da Loja. O Mestre é o nó que se aperta e se consolida, e a sua responsabilidade é a de zelar pela corda inteira. Em todos os graus, a mensagem é a mesma: o Maçom não existe sozinho, e o seu progresso individual só tem sentido quando serve ao conjunto.
Vivemos um tempo em que o individualismo é exaltado e os laços se afrouxam com facilidade. As relações tornaram-se rápidas, descartáveis, mediadas por telas. Nesse cenário, a corda dos oitenta e um nós reafirma um ideal que pode parecer antigo, mas é cada dia mais necessário: o de uma comunidade fundada na confiança, no compromisso duradouro e na palavra empenhada. Estar em Loja é aprender a ser nó, a assumir o lugar que nos cabe na corda, sem pretender que ela seja feita só de nós mesmos.
Concluindo, a Corda de 81 Nós no Rito Brasileiro reúne, em um só símbolo, a medida e a retidão herdadas do ofício, a plenitude indicada pela numerologia, a união expressa pelo nó, a fronteira que protege o espaço sagrado e o laço que nos prende à Pátria. Ela nos recorda que a Maçonaria é uma corrente e que a sua força não reside nos nomes ilustres ou nos títulos, mas na solidez de cada elo. Que cada um de nós, ao entrar no Templo e ver a corda que o envolve, se pergunte: o meu nó está firme? E que a resposta se traduza em atitudes. É o que lhes peço e o que a mim mesmo peço. Tenho dito.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676"/>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67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C34"/>
        </a:solidFill>
      </p:bgPr>
    </p:bg>
    <p:spTree>
      <p:nvGrpSpPr>
        <p:cNvPr id="1" name=""/>
        <p:cNvGrpSpPr/>
        <p:nvPr/>
      </p:nvGrpSpPr>
      <p:grpSpPr>
        <a:xfrm>
          <a:off x="0" y="0"/>
          <a:ext cx="0" cy="0"/>
          <a:chOff x="0" y="0"/>
          <a:chExt cx="0" cy="0"/>
        </a:xfrm>
      </p:grpSpPr>
      <p:sp>
        <p:nvSpPr>
          <p:cNvPr id="2" name="Shape 0"/>
          <p:cNvSpPr/>
          <p:nvPr/>
        </p:nvSpPr>
        <p:spPr>
          <a:xfrm>
            <a:off x="8503920" y="1097280"/>
            <a:ext cx="4206240" cy="4206240"/>
          </a:xfrm>
          <a:prstGeom prst="ellipse">
            <a:avLst/>
          </a:prstGeom>
          <a:solidFill>
            <a:srgbClr val="B8975A">
              <a:alpha val="12000"/>
            </a:srgbClr>
          </a:solidFill>
          <a:ln w="12700">
            <a:solidFill>
              <a:srgbClr val="B8975A"/>
            </a:solidFill>
            <a:prstDash val="solid"/>
          </a:ln>
        </p:spPr>
      </p:sp>
      <p:sp>
        <p:nvSpPr>
          <p:cNvPr id="3" name="Text 1"/>
          <p:cNvSpPr txBox="1"/>
          <p:nvPr/>
        </p:nvSpPr>
        <p:spPr>
          <a:xfrm>
            <a:off x="731520" y="1737360"/>
            <a:ext cx="8229600" cy="201168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A Corda de 81 Nós no Rito Brasileiro</a:t>
            </a:r>
            <a:endParaRPr lang="en-US" sz="4600" dirty="0"/>
          </a:p>
        </p:txBody>
      </p:sp>
      <p:sp>
        <p:nvSpPr>
          <p:cNvPr id="4" name="Text 2"/>
          <p:cNvSpPr txBox="1"/>
          <p:nvPr/>
        </p:nvSpPr>
        <p:spPr>
          <a:xfrm>
            <a:off x="731520" y="3931920"/>
            <a:ext cx="8229600" cy="548640"/>
          </a:xfrm>
          <a:prstGeom prst="rect">
            <a:avLst/>
          </a:prstGeom>
          <a:noFill/>
          <a:ln/>
        </p:spPr>
        <p:txBody>
          <a:bodyPr wrap="square" lIns="0" tIns="0" rIns="0" bIns="0" rtlCol="0" anchor="ctr"/>
          <a:lstStyle/>
          <a:p>
            <a:pPr indent="0" marL="0">
              <a:buNone/>
            </a:pPr>
            <a:r>
              <a:rPr lang="en-US" sz="2200" dirty="0">
                <a:solidFill>
                  <a:srgbClr val="D8C9A8"/>
                </a:solidFill>
                <a:latin typeface="Calibri" pitchFamily="34" charset="0"/>
                <a:ea typeface="Calibri" pitchFamily="34" charset="-122"/>
                <a:cs typeface="Calibri" pitchFamily="34" charset="-120"/>
              </a:rPr>
              <a:t>Trabalho apresentado em Loja</a:t>
            </a:r>
            <a:endParaRPr lang="en-US" sz="2200" dirty="0"/>
          </a:p>
        </p:txBody>
      </p:sp>
      <p:sp>
        <p:nvSpPr>
          <p:cNvPr id="5" name="Text 3"/>
          <p:cNvSpPr txBox="1"/>
          <p:nvPr/>
        </p:nvSpPr>
        <p:spPr>
          <a:xfrm>
            <a:off x="731520" y="5852160"/>
            <a:ext cx="8229600" cy="365760"/>
          </a:xfrm>
          <a:prstGeom prst="rect">
            <a:avLst/>
          </a:prstGeom>
          <a:noFill/>
          <a:ln/>
        </p:spPr>
        <p:txBody>
          <a:bodyPr wrap="square" lIns="0" tIns="0" rIns="0" bIns="0" rtlCol="0" anchor="ctr"/>
          <a:lstStyle/>
          <a:p>
            <a:pPr indent="0" marL="0">
              <a:buNone/>
            </a:pPr>
            <a:r>
              <a:rPr lang="en-US" sz="1400" dirty="0">
                <a:solidFill>
                  <a:srgbClr val="9AA3B5"/>
                </a:solidFill>
                <a:latin typeface="Calibri" pitchFamily="34" charset="0"/>
                <a:ea typeface="Calibri" pitchFamily="34" charset="-122"/>
                <a:cs typeface="Calibri" pitchFamily="34" charset="-120"/>
              </a:rPr>
              <a:t>Ir.: Giovanni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68680"/>
          </a:xfrm>
          <a:prstGeom prst="rect">
            <a:avLst/>
          </a:prstGeom>
          <a:noFill/>
          <a:ln/>
        </p:spPr>
        <p:txBody>
          <a:bodyPr wrap="square" lIns="0" tIns="0" rIns="0" bIns="0" rtlCol="0" anchor="ctr"/>
          <a:lstStyle/>
          <a:p>
            <a:pPr indent="0" marL="0">
              <a:buNone/>
            </a:pPr>
            <a:r>
              <a:rPr lang="en-US" sz="3600" b="1" dirty="0">
                <a:solidFill>
                  <a:srgbClr val="101C34"/>
                </a:solidFill>
                <a:latin typeface="Cambria" pitchFamily="34" charset="0"/>
                <a:ea typeface="Cambria" pitchFamily="34" charset="-122"/>
                <a:cs typeface="Cambria" pitchFamily="34" charset="-120"/>
              </a:rPr>
              <a:t>O cordão no Painel</a:t>
            </a:r>
            <a:endParaRPr lang="en-US" sz="3600" dirty="0"/>
          </a:p>
        </p:txBody>
      </p:sp>
      <p:sp>
        <p:nvSpPr>
          <p:cNvPr id="3" name="Text 1"/>
          <p:cNvSpPr txBox="1"/>
          <p:nvPr/>
        </p:nvSpPr>
        <p:spPr>
          <a:xfrm>
            <a:off x="11247120" y="6400800"/>
            <a:ext cx="457200" cy="274320"/>
          </a:xfrm>
          <a:prstGeom prst="rect">
            <a:avLst/>
          </a:prstGeom>
          <a:noFill/>
          <a:ln/>
        </p:spPr>
        <p:txBody>
          <a:bodyPr wrap="square" rtlCol="0" anchor="ctr"/>
          <a:lstStyle/>
          <a:p>
            <a:pPr indent="0" marL="0">
              <a:buNone/>
            </a:pPr>
            <a:endParaRPr lang="en-US" dirty="0"/>
          </a:p>
        </p:txBody>
      </p:sp>
      <p:pic>
        <p:nvPicPr>
          <p:cNvPr id="4" name="Image 0" descr="Cordão com nós e borlas no Painel da Loja de Companheiro">    </p:cNvPr>
          <p:cNvPicPr>
            <a:picLocks noChangeAspect="1"/>
          </p:cNvPicPr>
          <p:nvPr/>
        </p:nvPicPr>
        <p:blipFill>
          <a:blip r:embed="rId1"/>
          <a:stretch>
            <a:fillRect/>
          </a:stretch>
        </p:blipFill>
        <p:spPr>
          <a:xfrm>
            <a:off x="548640" y="1647678"/>
            <a:ext cx="6766560" cy="4294163"/>
          </a:xfrm>
          <a:prstGeom prst="rect">
            <a:avLst/>
          </a:prstGeom>
        </p:spPr>
      </p:pic>
      <p:sp>
        <p:nvSpPr>
          <p:cNvPr id="5" name="Shape 2"/>
          <p:cNvSpPr/>
          <p:nvPr/>
        </p:nvSpPr>
        <p:spPr>
          <a:xfrm>
            <a:off x="548640" y="1647678"/>
            <a:ext cx="6766560" cy="4294163"/>
          </a:xfrm>
          <a:prstGeom prst="rect">
            <a:avLst/>
          </a:prstGeom>
          <a:ln w="19050">
            <a:solidFill>
              <a:srgbClr val="B8975A"/>
            </a:solidFill>
            <a:prstDash val="solid"/>
          </a:ln>
        </p:spPr>
      </p:sp>
      <p:sp>
        <p:nvSpPr>
          <p:cNvPr id="6" name="Text 3"/>
          <p:cNvSpPr txBox="1"/>
          <p:nvPr/>
        </p:nvSpPr>
        <p:spPr>
          <a:xfrm>
            <a:off x="7772400" y="2011680"/>
            <a:ext cx="3931920" cy="3200400"/>
          </a:xfrm>
          <a:prstGeom prst="rect">
            <a:avLst/>
          </a:prstGeom>
          <a:noFill/>
          <a:ln/>
        </p:spPr>
        <p:txBody>
          <a:bodyPr wrap="square" lIns="0" tIns="0" rIns="0" bIns="0" rtlCol="0" anchor="t"/>
          <a:lstStyle/>
          <a:p>
            <a:pPr marL="228600" indent="-228600">
              <a:spcAft>
                <a:spcPts val="1400"/>
              </a:spcAft>
              <a:buSzPct val="100000"/>
              <a:buChar char="•"/>
            </a:pPr>
            <a:r>
              <a:rPr lang="en-US" sz="2200" dirty="0">
                <a:solidFill>
                  <a:srgbClr val="1B2438"/>
                </a:solidFill>
                <a:latin typeface="Calibri" pitchFamily="34" charset="0"/>
                <a:ea typeface="Calibri" pitchFamily="34" charset="-122"/>
                <a:cs typeface="Calibri" pitchFamily="34" charset="-120"/>
              </a:rPr>
              <a:t>Cordão com nós e borlas</a:t>
            </a:r>
            <a:endParaRPr lang="en-US" sz="2200" dirty="0"/>
          </a:p>
          <a:p>
            <a:pPr marL="228600" indent="-228600">
              <a:spcAft>
                <a:spcPts val="1400"/>
              </a:spcAft>
              <a:buSzPct val="100000"/>
              <a:buChar char="•"/>
            </a:pPr>
            <a:r>
              <a:rPr lang="en-US" sz="2200" dirty="0">
                <a:solidFill>
                  <a:srgbClr val="1B2438"/>
                </a:solidFill>
                <a:latin typeface="Calibri" pitchFamily="34" charset="0"/>
                <a:ea typeface="Calibri" pitchFamily="34" charset="-122"/>
                <a:cs typeface="Calibri" pitchFamily="34" charset="-120"/>
              </a:rPr>
              <a:t>Circunda o Painel</a:t>
            </a:r>
            <a:endParaRPr lang="en-US" sz="2200" dirty="0"/>
          </a:p>
          <a:p>
            <a:pPr marL="228600" indent="-228600">
              <a:spcAft>
                <a:spcPts val="1400"/>
              </a:spcAft>
              <a:buSzPct val="100000"/>
              <a:buChar char="•"/>
            </a:pPr>
            <a:r>
              <a:rPr lang="en-US" sz="2200" dirty="0">
                <a:solidFill>
                  <a:srgbClr val="1B2438"/>
                </a:solidFill>
                <a:latin typeface="Calibri" pitchFamily="34" charset="0"/>
                <a:ea typeface="Calibri" pitchFamily="34" charset="-122"/>
                <a:cs typeface="Calibri" pitchFamily="34" charset="-120"/>
              </a:rPr>
              <a:t>Fecha, simbolicamente, o espaço da Loja</a:t>
            </a:r>
            <a:endParaRPr lang="en-US" sz="2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676"/>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68680"/>
          </a:xfrm>
          <a:prstGeom prst="rect">
            <a:avLst/>
          </a:prstGeom>
          <a:noFill/>
          <a:ln/>
        </p:spPr>
        <p:txBody>
          <a:bodyPr wrap="square" lIns="0" tIns="0" rIns="0" bIns="0" rtlCol="0" anchor="ctr"/>
          <a:lstStyle/>
          <a:p>
            <a:pPr indent="0" marL="0">
              <a:buNone/>
            </a:pPr>
            <a:r>
              <a:rPr lang="en-US" sz="3600" b="1" dirty="0">
                <a:solidFill>
                  <a:srgbClr val="101C34"/>
                </a:solidFill>
                <a:latin typeface="Cambria" pitchFamily="34" charset="0"/>
                <a:ea typeface="Cambria" pitchFamily="34" charset="-122"/>
                <a:cs typeface="Cambria" pitchFamily="34" charset="-120"/>
              </a:rPr>
              <a:t>Medida e retidão</a:t>
            </a:r>
            <a:endParaRPr lang="en-US" sz="3600" dirty="0"/>
          </a:p>
        </p:txBody>
      </p:sp>
      <p:sp>
        <p:nvSpPr>
          <p:cNvPr id="3" name="Text 1"/>
          <p:cNvSpPr txBox="1"/>
          <p:nvPr/>
        </p:nvSpPr>
        <p:spPr>
          <a:xfrm>
            <a:off x="11247120" y="6400800"/>
            <a:ext cx="457200" cy="274320"/>
          </a:xfrm>
          <a:prstGeom prst="rect">
            <a:avLst/>
          </a:prstGeom>
          <a:noFill/>
          <a:ln/>
        </p:spPr>
        <p:txBody>
          <a:bodyPr wrap="square" rtlCol="0" anchor="ctr"/>
          <a:lstStyle/>
          <a:p>
            <a:pPr indent="0" marL="0">
              <a:buNone/>
            </a:pPr>
            <a:endParaRPr lang="en-US" dirty="0"/>
          </a:p>
        </p:txBody>
      </p:sp>
      <p:sp>
        <p:nvSpPr>
          <p:cNvPr id="4" name="Shape 2"/>
          <p:cNvSpPr/>
          <p:nvPr/>
        </p:nvSpPr>
        <p:spPr>
          <a:xfrm>
            <a:off x="1280160" y="5486400"/>
            <a:ext cx="3840480" cy="0"/>
          </a:xfrm>
          <a:prstGeom prst="line">
            <a:avLst/>
          </a:prstGeom>
          <a:noFill/>
          <a:ln w="38100">
            <a:solidFill>
              <a:srgbClr val="B8975A"/>
            </a:solidFill>
            <a:prstDash val="solid"/>
          </a:ln>
        </p:spPr>
      </p:sp>
      <p:sp>
        <p:nvSpPr>
          <p:cNvPr id="5" name="Shape 3"/>
          <p:cNvSpPr/>
          <p:nvPr/>
        </p:nvSpPr>
        <p:spPr>
          <a:xfrm>
            <a:off x="1280160" y="2606040"/>
            <a:ext cx="3840480" cy="2880360"/>
          </a:xfrm>
          <a:prstGeom prst="line">
            <a:avLst/>
          </a:prstGeom>
          <a:noFill/>
          <a:ln w="38100">
            <a:solidFill>
              <a:srgbClr val="B8975A"/>
            </a:solidFill>
            <a:prstDash val="solid"/>
          </a:ln>
        </p:spPr>
      </p:sp>
      <p:sp>
        <p:nvSpPr>
          <p:cNvPr id="6" name="Shape 4"/>
          <p:cNvSpPr/>
          <p:nvPr/>
        </p:nvSpPr>
        <p:spPr>
          <a:xfrm>
            <a:off x="1280160" y="2606040"/>
            <a:ext cx="0" cy="2880360"/>
          </a:xfrm>
          <a:prstGeom prst="line">
            <a:avLst/>
          </a:prstGeom>
          <a:noFill/>
          <a:ln w="38100">
            <a:solidFill>
              <a:srgbClr val="B8975A"/>
            </a:solidFill>
            <a:prstDash val="solid"/>
          </a:ln>
        </p:spPr>
      </p:sp>
      <p:sp>
        <p:nvSpPr>
          <p:cNvPr id="7" name="Shape 5"/>
          <p:cNvSpPr/>
          <p:nvPr/>
        </p:nvSpPr>
        <p:spPr>
          <a:xfrm>
            <a:off x="1280160" y="5212080"/>
            <a:ext cx="274320" cy="274320"/>
          </a:xfrm>
          <a:prstGeom prst="rect">
            <a:avLst/>
          </a:prstGeom>
          <a:ln w="19050">
            <a:solidFill>
              <a:srgbClr val="101C34"/>
            </a:solidFill>
            <a:prstDash val="solid"/>
          </a:ln>
        </p:spPr>
      </p:sp>
      <p:sp>
        <p:nvSpPr>
          <p:cNvPr id="8" name="Shape 6"/>
          <p:cNvSpPr/>
          <p:nvPr/>
        </p:nvSpPr>
        <p:spPr>
          <a:xfrm>
            <a:off x="1179576" y="5385816"/>
            <a:ext cx="201168" cy="201168"/>
          </a:xfrm>
          <a:prstGeom prst="ellipse">
            <a:avLst/>
          </a:prstGeom>
          <a:solidFill>
            <a:srgbClr val="101C34"/>
          </a:solidFill>
          <a:ln w="12700">
            <a:solidFill>
              <a:srgbClr val="FFFFFF"/>
            </a:solidFill>
            <a:prstDash val="solid"/>
          </a:ln>
        </p:spPr>
      </p:sp>
      <p:sp>
        <p:nvSpPr>
          <p:cNvPr id="9" name="Shape 7"/>
          <p:cNvSpPr/>
          <p:nvPr/>
        </p:nvSpPr>
        <p:spPr>
          <a:xfrm>
            <a:off x="2139696" y="5385816"/>
            <a:ext cx="201168" cy="201168"/>
          </a:xfrm>
          <a:prstGeom prst="ellipse">
            <a:avLst/>
          </a:prstGeom>
          <a:solidFill>
            <a:srgbClr val="101C34"/>
          </a:solidFill>
          <a:ln w="12700">
            <a:solidFill>
              <a:srgbClr val="FFFFFF"/>
            </a:solidFill>
            <a:prstDash val="solid"/>
          </a:ln>
        </p:spPr>
      </p:sp>
      <p:sp>
        <p:nvSpPr>
          <p:cNvPr id="10" name="Shape 8"/>
          <p:cNvSpPr/>
          <p:nvPr/>
        </p:nvSpPr>
        <p:spPr>
          <a:xfrm>
            <a:off x="3099816" y="5385816"/>
            <a:ext cx="201168" cy="201168"/>
          </a:xfrm>
          <a:prstGeom prst="ellipse">
            <a:avLst/>
          </a:prstGeom>
          <a:solidFill>
            <a:srgbClr val="101C34"/>
          </a:solidFill>
          <a:ln w="12700">
            <a:solidFill>
              <a:srgbClr val="FFFFFF"/>
            </a:solidFill>
            <a:prstDash val="solid"/>
          </a:ln>
        </p:spPr>
      </p:sp>
      <p:sp>
        <p:nvSpPr>
          <p:cNvPr id="11" name="Shape 9"/>
          <p:cNvSpPr/>
          <p:nvPr/>
        </p:nvSpPr>
        <p:spPr>
          <a:xfrm>
            <a:off x="4059936" y="5385816"/>
            <a:ext cx="201168" cy="201168"/>
          </a:xfrm>
          <a:prstGeom prst="ellipse">
            <a:avLst/>
          </a:prstGeom>
          <a:solidFill>
            <a:srgbClr val="101C34"/>
          </a:solidFill>
          <a:ln w="12700">
            <a:solidFill>
              <a:srgbClr val="FFFFFF"/>
            </a:solidFill>
            <a:prstDash val="solid"/>
          </a:ln>
        </p:spPr>
      </p:sp>
      <p:sp>
        <p:nvSpPr>
          <p:cNvPr id="12" name="Shape 10"/>
          <p:cNvSpPr/>
          <p:nvPr/>
        </p:nvSpPr>
        <p:spPr>
          <a:xfrm>
            <a:off x="5020056" y="5385816"/>
            <a:ext cx="201168" cy="201168"/>
          </a:xfrm>
          <a:prstGeom prst="ellipse">
            <a:avLst/>
          </a:prstGeom>
          <a:solidFill>
            <a:srgbClr val="101C34"/>
          </a:solidFill>
          <a:ln w="12700">
            <a:solidFill>
              <a:srgbClr val="FFFFFF"/>
            </a:solidFill>
            <a:prstDash val="solid"/>
          </a:ln>
        </p:spPr>
      </p:sp>
      <p:sp>
        <p:nvSpPr>
          <p:cNvPr id="13" name="Shape 11"/>
          <p:cNvSpPr/>
          <p:nvPr/>
        </p:nvSpPr>
        <p:spPr>
          <a:xfrm>
            <a:off x="4251960" y="4809744"/>
            <a:ext cx="201168" cy="201168"/>
          </a:xfrm>
          <a:prstGeom prst="ellipse">
            <a:avLst/>
          </a:prstGeom>
          <a:solidFill>
            <a:srgbClr val="101C34"/>
          </a:solidFill>
          <a:ln w="12700">
            <a:solidFill>
              <a:srgbClr val="FFFFFF"/>
            </a:solidFill>
            <a:prstDash val="solid"/>
          </a:ln>
        </p:spPr>
      </p:sp>
      <p:sp>
        <p:nvSpPr>
          <p:cNvPr id="14" name="Shape 12"/>
          <p:cNvSpPr/>
          <p:nvPr/>
        </p:nvSpPr>
        <p:spPr>
          <a:xfrm>
            <a:off x="3483864" y="4233672"/>
            <a:ext cx="201168" cy="201168"/>
          </a:xfrm>
          <a:prstGeom prst="ellipse">
            <a:avLst/>
          </a:prstGeom>
          <a:solidFill>
            <a:srgbClr val="101C34"/>
          </a:solidFill>
          <a:ln w="12700">
            <a:solidFill>
              <a:srgbClr val="FFFFFF"/>
            </a:solidFill>
            <a:prstDash val="solid"/>
          </a:ln>
        </p:spPr>
      </p:sp>
      <p:sp>
        <p:nvSpPr>
          <p:cNvPr id="15" name="Shape 13"/>
          <p:cNvSpPr/>
          <p:nvPr/>
        </p:nvSpPr>
        <p:spPr>
          <a:xfrm>
            <a:off x="2715768" y="3657600"/>
            <a:ext cx="201168" cy="201168"/>
          </a:xfrm>
          <a:prstGeom prst="ellipse">
            <a:avLst/>
          </a:prstGeom>
          <a:solidFill>
            <a:srgbClr val="101C34"/>
          </a:solidFill>
          <a:ln w="12700">
            <a:solidFill>
              <a:srgbClr val="FFFFFF"/>
            </a:solidFill>
            <a:prstDash val="solid"/>
          </a:ln>
        </p:spPr>
      </p:sp>
      <p:sp>
        <p:nvSpPr>
          <p:cNvPr id="16" name="Shape 14"/>
          <p:cNvSpPr/>
          <p:nvPr/>
        </p:nvSpPr>
        <p:spPr>
          <a:xfrm>
            <a:off x="1947672" y="3081528"/>
            <a:ext cx="201168" cy="201168"/>
          </a:xfrm>
          <a:prstGeom prst="ellipse">
            <a:avLst/>
          </a:prstGeom>
          <a:solidFill>
            <a:srgbClr val="101C34"/>
          </a:solidFill>
          <a:ln w="12700">
            <a:solidFill>
              <a:srgbClr val="FFFFFF"/>
            </a:solidFill>
            <a:prstDash val="solid"/>
          </a:ln>
        </p:spPr>
      </p:sp>
      <p:sp>
        <p:nvSpPr>
          <p:cNvPr id="17" name="Shape 15"/>
          <p:cNvSpPr/>
          <p:nvPr/>
        </p:nvSpPr>
        <p:spPr>
          <a:xfrm>
            <a:off x="1179576" y="2505456"/>
            <a:ext cx="201168" cy="201168"/>
          </a:xfrm>
          <a:prstGeom prst="ellipse">
            <a:avLst/>
          </a:prstGeom>
          <a:solidFill>
            <a:srgbClr val="101C34"/>
          </a:solidFill>
          <a:ln w="12700">
            <a:solidFill>
              <a:srgbClr val="FFFFFF"/>
            </a:solidFill>
            <a:prstDash val="solid"/>
          </a:ln>
        </p:spPr>
      </p:sp>
      <p:sp>
        <p:nvSpPr>
          <p:cNvPr id="18" name="Shape 16"/>
          <p:cNvSpPr/>
          <p:nvPr/>
        </p:nvSpPr>
        <p:spPr>
          <a:xfrm>
            <a:off x="1179576" y="3465576"/>
            <a:ext cx="201168" cy="201168"/>
          </a:xfrm>
          <a:prstGeom prst="ellipse">
            <a:avLst/>
          </a:prstGeom>
          <a:solidFill>
            <a:srgbClr val="101C34"/>
          </a:solidFill>
          <a:ln w="12700">
            <a:solidFill>
              <a:srgbClr val="FFFFFF"/>
            </a:solidFill>
            <a:prstDash val="solid"/>
          </a:ln>
        </p:spPr>
      </p:sp>
      <p:sp>
        <p:nvSpPr>
          <p:cNvPr id="19" name="Shape 17"/>
          <p:cNvSpPr/>
          <p:nvPr/>
        </p:nvSpPr>
        <p:spPr>
          <a:xfrm>
            <a:off x="1179576" y="4425696"/>
            <a:ext cx="201168" cy="201168"/>
          </a:xfrm>
          <a:prstGeom prst="ellipse">
            <a:avLst/>
          </a:prstGeom>
          <a:solidFill>
            <a:srgbClr val="101C34"/>
          </a:solidFill>
          <a:ln w="12700">
            <a:solidFill>
              <a:srgbClr val="FFFFFF"/>
            </a:solidFill>
            <a:prstDash val="solid"/>
          </a:ln>
        </p:spPr>
      </p:sp>
      <p:sp>
        <p:nvSpPr>
          <p:cNvPr id="20" name="Text 18"/>
          <p:cNvSpPr txBox="1"/>
          <p:nvPr/>
        </p:nvSpPr>
        <p:spPr>
          <a:xfrm>
            <a:off x="2912364" y="5669280"/>
            <a:ext cx="548640" cy="365760"/>
          </a:xfrm>
          <a:prstGeom prst="rect">
            <a:avLst/>
          </a:prstGeom>
          <a:noFill/>
          <a:ln/>
        </p:spPr>
        <p:txBody>
          <a:bodyPr wrap="square" lIns="0" tIns="0" rIns="0" bIns="0" rtlCol="0" anchor="ctr"/>
          <a:lstStyle/>
          <a:p>
            <a:pPr algn="ctr" indent="0" marL="0">
              <a:buNone/>
            </a:pPr>
            <a:r>
              <a:rPr lang="en-US" sz="2000" b="1" dirty="0">
                <a:solidFill>
                  <a:srgbClr val="101C34"/>
                </a:solidFill>
                <a:latin typeface="Cambria" pitchFamily="34" charset="0"/>
                <a:ea typeface="Cambria" pitchFamily="34" charset="-122"/>
                <a:cs typeface="Cambria" pitchFamily="34" charset="-120"/>
              </a:rPr>
              <a:t>4</a:t>
            </a:r>
            <a:endParaRPr lang="en-US" sz="2000" dirty="0"/>
          </a:p>
        </p:txBody>
      </p:sp>
      <p:sp>
        <p:nvSpPr>
          <p:cNvPr id="21" name="Text 19"/>
          <p:cNvSpPr txBox="1"/>
          <p:nvPr/>
        </p:nvSpPr>
        <p:spPr>
          <a:xfrm>
            <a:off x="640080" y="3662172"/>
            <a:ext cx="457200" cy="365760"/>
          </a:xfrm>
          <a:prstGeom prst="rect">
            <a:avLst/>
          </a:prstGeom>
          <a:noFill/>
          <a:ln/>
        </p:spPr>
        <p:txBody>
          <a:bodyPr wrap="square" lIns="0" tIns="0" rIns="0" bIns="0" rtlCol="0" anchor="ctr"/>
          <a:lstStyle/>
          <a:p>
            <a:pPr algn="ctr" indent="0" marL="0">
              <a:buNone/>
            </a:pPr>
            <a:r>
              <a:rPr lang="en-US" sz="2000" b="1" dirty="0">
                <a:solidFill>
                  <a:srgbClr val="101C34"/>
                </a:solidFill>
                <a:latin typeface="Cambria" pitchFamily="34" charset="0"/>
                <a:ea typeface="Cambria" pitchFamily="34" charset="-122"/>
                <a:cs typeface="Cambria" pitchFamily="34" charset="-120"/>
              </a:rPr>
              <a:t>3</a:t>
            </a:r>
            <a:endParaRPr lang="en-US" sz="2000" dirty="0"/>
          </a:p>
        </p:txBody>
      </p:sp>
      <p:sp>
        <p:nvSpPr>
          <p:cNvPr id="22" name="Text 20"/>
          <p:cNvSpPr txBox="1"/>
          <p:nvPr/>
        </p:nvSpPr>
        <p:spPr>
          <a:xfrm>
            <a:off x="3680460" y="3566160"/>
            <a:ext cx="457200" cy="365760"/>
          </a:xfrm>
          <a:prstGeom prst="rect">
            <a:avLst/>
          </a:prstGeom>
          <a:noFill/>
          <a:ln/>
        </p:spPr>
        <p:txBody>
          <a:bodyPr wrap="square" lIns="0" tIns="0" rIns="0" bIns="0" rtlCol="0" anchor="ctr"/>
          <a:lstStyle/>
          <a:p>
            <a:pPr algn="ctr" indent="0" marL="0">
              <a:buNone/>
            </a:pPr>
            <a:r>
              <a:rPr lang="en-US" sz="2000" b="1" dirty="0">
                <a:solidFill>
                  <a:srgbClr val="101C34"/>
                </a:solidFill>
                <a:latin typeface="Cambria" pitchFamily="34" charset="0"/>
                <a:ea typeface="Cambria" pitchFamily="34" charset="-122"/>
                <a:cs typeface="Cambria" pitchFamily="34" charset="-120"/>
              </a:rPr>
              <a:t>5</a:t>
            </a:r>
            <a:endParaRPr lang="en-US" sz="2000" dirty="0"/>
          </a:p>
        </p:txBody>
      </p:sp>
      <p:sp>
        <p:nvSpPr>
          <p:cNvPr id="23" name="Text 21"/>
          <p:cNvSpPr txBox="1"/>
          <p:nvPr/>
        </p:nvSpPr>
        <p:spPr>
          <a:xfrm>
            <a:off x="6949440" y="2011680"/>
            <a:ext cx="4754880" cy="3200400"/>
          </a:xfrm>
          <a:prstGeom prst="rect">
            <a:avLst/>
          </a:prstGeom>
          <a:noFill/>
          <a:ln/>
        </p:spPr>
        <p:txBody>
          <a:bodyPr wrap="square" lIns="0" tIns="0" rIns="0" bIns="0" rtlCol="0" anchor="t"/>
          <a:lstStyle/>
          <a:p>
            <a:pPr marL="228600" indent="-228600">
              <a:spcAft>
                <a:spcPts val="1400"/>
              </a:spcAft>
              <a:buSzPct val="100000"/>
              <a:buChar char="•"/>
            </a:pPr>
            <a:r>
              <a:rPr lang="en-US" sz="2200" dirty="0">
                <a:solidFill>
                  <a:srgbClr val="1B2438"/>
                </a:solidFill>
                <a:latin typeface="Calibri" pitchFamily="34" charset="0"/>
                <a:ea typeface="Calibri" pitchFamily="34" charset="-122"/>
                <a:cs typeface="Calibri" pitchFamily="34" charset="-120"/>
              </a:rPr>
              <a:t>Corda de doze nós igualmente espaçados</a:t>
            </a:r>
            <a:endParaRPr lang="en-US" sz="2200" dirty="0"/>
          </a:p>
          <a:p>
            <a:pPr marL="228600" indent="-228600">
              <a:spcAft>
                <a:spcPts val="1400"/>
              </a:spcAft>
              <a:buSzPct val="100000"/>
              <a:buChar char="•"/>
            </a:pPr>
            <a:r>
              <a:rPr lang="en-US" sz="2200" dirty="0">
                <a:solidFill>
                  <a:srgbClr val="1B2438"/>
                </a:solidFill>
                <a:latin typeface="Calibri" pitchFamily="34" charset="0"/>
                <a:ea typeface="Calibri" pitchFamily="34" charset="-122"/>
                <a:cs typeface="Calibri" pitchFamily="34" charset="-120"/>
              </a:rPr>
              <a:t>Triângulo de lados 3, 4 e 5</a:t>
            </a:r>
            <a:endParaRPr lang="en-US" sz="2200" dirty="0"/>
          </a:p>
          <a:p>
            <a:pPr marL="228600" indent="-228600">
              <a:spcAft>
                <a:spcPts val="1400"/>
              </a:spcAft>
              <a:buSzPct val="100000"/>
              <a:buChar char="•"/>
            </a:pPr>
            <a:r>
              <a:rPr lang="en-US" sz="2200" dirty="0">
                <a:solidFill>
                  <a:srgbClr val="1B2438"/>
                </a:solidFill>
                <a:latin typeface="Calibri" pitchFamily="34" charset="0"/>
                <a:ea typeface="Calibri" pitchFamily="34" charset="-122"/>
                <a:cs typeface="Calibri" pitchFamily="34" charset="-120"/>
              </a:rPr>
              <a:t>O canto entre os lados menores é um esquadro perfeito</a:t>
            </a:r>
            <a:endParaRPr lang="en-US" sz="2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676"/>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68680"/>
          </a:xfrm>
          <a:prstGeom prst="rect">
            <a:avLst/>
          </a:prstGeom>
          <a:noFill/>
          <a:ln/>
        </p:spPr>
        <p:txBody>
          <a:bodyPr wrap="square" lIns="0" tIns="0" rIns="0" bIns="0" rtlCol="0" anchor="ctr"/>
          <a:lstStyle/>
          <a:p>
            <a:pPr indent="0" marL="0">
              <a:buNone/>
            </a:pPr>
            <a:r>
              <a:rPr lang="en-US" sz="3600" b="1" dirty="0">
                <a:solidFill>
                  <a:srgbClr val="101C34"/>
                </a:solidFill>
                <a:latin typeface="Cambria" pitchFamily="34" charset="0"/>
                <a:ea typeface="Cambria" pitchFamily="34" charset="-122"/>
                <a:cs typeface="Cambria" pitchFamily="34" charset="-120"/>
              </a:rPr>
              <a:t>O número 81</a:t>
            </a:r>
            <a:endParaRPr lang="en-US" sz="3600" dirty="0"/>
          </a:p>
        </p:txBody>
      </p:sp>
      <p:sp>
        <p:nvSpPr>
          <p:cNvPr id="3" name="Text 1"/>
          <p:cNvSpPr txBox="1"/>
          <p:nvPr/>
        </p:nvSpPr>
        <p:spPr>
          <a:xfrm>
            <a:off x="11247120" y="6400800"/>
            <a:ext cx="457200" cy="274320"/>
          </a:xfrm>
          <a:prstGeom prst="rect">
            <a:avLst/>
          </a:prstGeom>
          <a:noFill/>
          <a:ln/>
        </p:spPr>
        <p:txBody>
          <a:bodyPr wrap="square" rtlCol="0" anchor="ctr"/>
          <a:lstStyle/>
          <a:p>
            <a:pPr indent="0" marL="0">
              <a:buNone/>
            </a:pPr>
            <a:endParaRPr lang="en-US" dirty="0"/>
          </a:p>
        </p:txBody>
      </p:sp>
      <p:sp>
        <p:nvSpPr>
          <p:cNvPr id="4" name="Shape 2"/>
          <p:cNvSpPr/>
          <p:nvPr/>
        </p:nvSpPr>
        <p:spPr>
          <a:xfrm>
            <a:off x="822960" y="1600200"/>
            <a:ext cx="274320" cy="274320"/>
          </a:xfrm>
          <a:prstGeom prst="ellipse">
            <a:avLst/>
          </a:prstGeom>
          <a:solidFill>
            <a:srgbClr val="101C34"/>
          </a:solidFill>
          <a:ln w="6350">
            <a:solidFill>
              <a:srgbClr val="FFFFFF"/>
            </a:solidFill>
            <a:prstDash val="solid"/>
          </a:ln>
        </p:spPr>
      </p:sp>
      <p:sp>
        <p:nvSpPr>
          <p:cNvPr id="5" name="Shape 3"/>
          <p:cNvSpPr/>
          <p:nvPr/>
        </p:nvSpPr>
        <p:spPr>
          <a:xfrm>
            <a:off x="1207008" y="1600200"/>
            <a:ext cx="274320" cy="274320"/>
          </a:xfrm>
          <a:prstGeom prst="ellipse">
            <a:avLst/>
          </a:prstGeom>
          <a:solidFill>
            <a:srgbClr val="101C34"/>
          </a:solidFill>
          <a:ln w="6350">
            <a:solidFill>
              <a:srgbClr val="FFFFFF"/>
            </a:solidFill>
            <a:prstDash val="solid"/>
          </a:ln>
        </p:spPr>
      </p:sp>
      <p:sp>
        <p:nvSpPr>
          <p:cNvPr id="6" name="Shape 4"/>
          <p:cNvSpPr/>
          <p:nvPr/>
        </p:nvSpPr>
        <p:spPr>
          <a:xfrm>
            <a:off x="1591056" y="1600200"/>
            <a:ext cx="274320" cy="274320"/>
          </a:xfrm>
          <a:prstGeom prst="ellipse">
            <a:avLst/>
          </a:prstGeom>
          <a:solidFill>
            <a:srgbClr val="101C34"/>
          </a:solidFill>
          <a:ln w="6350">
            <a:solidFill>
              <a:srgbClr val="FFFFFF"/>
            </a:solidFill>
            <a:prstDash val="solid"/>
          </a:ln>
        </p:spPr>
      </p:sp>
      <p:sp>
        <p:nvSpPr>
          <p:cNvPr id="7" name="Shape 5"/>
          <p:cNvSpPr/>
          <p:nvPr/>
        </p:nvSpPr>
        <p:spPr>
          <a:xfrm>
            <a:off x="2231136" y="1600200"/>
            <a:ext cx="274320" cy="274320"/>
          </a:xfrm>
          <a:prstGeom prst="ellipse">
            <a:avLst/>
          </a:prstGeom>
          <a:solidFill>
            <a:srgbClr val="B8975A"/>
          </a:solidFill>
          <a:ln w="6350">
            <a:solidFill>
              <a:srgbClr val="FFFFFF"/>
            </a:solidFill>
            <a:prstDash val="solid"/>
          </a:ln>
        </p:spPr>
      </p:sp>
      <p:sp>
        <p:nvSpPr>
          <p:cNvPr id="8" name="Shape 6"/>
          <p:cNvSpPr/>
          <p:nvPr/>
        </p:nvSpPr>
        <p:spPr>
          <a:xfrm>
            <a:off x="2615184" y="1600200"/>
            <a:ext cx="274320" cy="274320"/>
          </a:xfrm>
          <a:prstGeom prst="ellipse">
            <a:avLst/>
          </a:prstGeom>
          <a:solidFill>
            <a:srgbClr val="B8975A"/>
          </a:solidFill>
          <a:ln w="6350">
            <a:solidFill>
              <a:srgbClr val="FFFFFF"/>
            </a:solidFill>
            <a:prstDash val="solid"/>
          </a:ln>
        </p:spPr>
      </p:sp>
      <p:sp>
        <p:nvSpPr>
          <p:cNvPr id="9" name="Shape 7"/>
          <p:cNvSpPr/>
          <p:nvPr/>
        </p:nvSpPr>
        <p:spPr>
          <a:xfrm>
            <a:off x="2999232" y="1600200"/>
            <a:ext cx="274320" cy="274320"/>
          </a:xfrm>
          <a:prstGeom prst="ellipse">
            <a:avLst/>
          </a:prstGeom>
          <a:solidFill>
            <a:srgbClr val="B8975A"/>
          </a:solidFill>
          <a:ln w="6350">
            <a:solidFill>
              <a:srgbClr val="FFFFFF"/>
            </a:solidFill>
            <a:prstDash val="solid"/>
          </a:ln>
        </p:spPr>
      </p:sp>
      <p:sp>
        <p:nvSpPr>
          <p:cNvPr id="10" name="Shape 8"/>
          <p:cNvSpPr/>
          <p:nvPr/>
        </p:nvSpPr>
        <p:spPr>
          <a:xfrm>
            <a:off x="3639312" y="1600200"/>
            <a:ext cx="274320" cy="274320"/>
          </a:xfrm>
          <a:prstGeom prst="ellipse">
            <a:avLst/>
          </a:prstGeom>
          <a:solidFill>
            <a:srgbClr val="101C34"/>
          </a:solidFill>
          <a:ln w="6350">
            <a:solidFill>
              <a:srgbClr val="FFFFFF"/>
            </a:solidFill>
            <a:prstDash val="solid"/>
          </a:ln>
        </p:spPr>
      </p:sp>
      <p:sp>
        <p:nvSpPr>
          <p:cNvPr id="11" name="Shape 9"/>
          <p:cNvSpPr/>
          <p:nvPr/>
        </p:nvSpPr>
        <p:spPr>
          <a:xfrm>
            <a:off x="4023360" y="1600200"/>
            <a:ext cx="274320" cy="274320"/>
          </a:xfrm>
          <a:prstGeom prst="ellipse">
            <a:avLst/>
          </a:prstGeom>
          <a:solidFill>
            <a:srgbClr val="101C34"/>
          </a:solidFill>
          <a:ln w="6350">
            <a:solidFill>
              <a:srgbClr val="FFFFFF"/>
            </a:solidFill>
            <a:prstDash val="solid"/>
          </a:ln>
        </p:spPr>
      </p:sp>
      <p:sp>
        <p:nvSpPr>
          <p:cNvPr id="12" name="Shape 10"/>
          <p:cNvSpPr/>
          <p:nvPr/>
        </p:nvSpPr>
        <p:spPr>
          <a:xfrm>
            <a:off x="4407408" y="1600200"/>
            <a:ext cx="274320" cy="274320"/>
          </a:xfrm>
          <a:prstGeom prst="ellipse">
            <a:avLst/>
          </a:prstGeom>
          <a:solidFill>
            <a:srgbClr val="101C34"/>
          </a:solidFill>
          <a:ln w="6350">
            <a:solidFill>
              <a:srgbClr val="FFFFFF"/>
            </a:solidFill>
            <a:prstDash val="solid"/>
          </a:ln>
        </p:spPr>
      </p:sp>
      <p:sp>
        <p:nvSpPr>
          <p:cNvPr id="13" name="Shape 11"/>
          <p:cNvSpPr/>
          <p:nvPr/>
        </p:nvSpPr>
        <p:spPr>
          <a:xfrm>
            <a:off x="822960" y="1984248"/>
            <a:ext cx="274320" cy="274320"/>
          </a:xfrm>
          <a:prstGeom prst="ellipse">
            <a:avLst/>
          </a:prstGeom>
          <a:solidFill>
            <a:srgbClr val="101C34"/>
          </a:solidFill>
          <a:ln w="6350">
            <a:solidFill>
              <a:srgbClr val="FFFFFF"/>
            </a:solidFill>
            <a:prstDash val="solid"/>
          </a:ln>
        </p:spPr>
      </p:sp>
      <p:sp>
        <p:nvSpPr>
          <p:cNvPr id="14" name="Shape 12"/>
          <p:cNvSpPr/>
          <p:nvPr/>
        </p:nvSpPr>
        <p:spPr>
          <a:xfrm>
            <a:off x="1207008" y="1984248"/>
            <a:ext cx="274320" cy="274320"/>
          </a:xfrm>
          <a:prstGeom prst="ellipse">
            <a:avLst/>
          </a:prstGeom>
          <a:solidFill>
            <a:srgbClr val="101C34"/>
          </a:solidFill>
          <a:ln w="6350">
            <a:solidFill>
              <a:srgbClr val="FFFFFF"/>
            </a:solidFill>
            <a:prstDash val="solid"/>
          </a:ln>
        </p:spPr>
      </p:sp>
      <p:sp>
        <p:nvSpPr>
          <p:cNvPr id="15" name="Shape 13"/>
          <p:cNvSpPr/>
          <p:nvPr/>
        </p:nvSpPr>
        <p:spPr>
          <a:xfrm>
            <a:off x="1591056" y="1984248"/>
            <a:ext cx="274320" cy="274320"/>
          </a:xfrm>
          <a:prstGeom prst="ellipse">
            <a:avLst/>
          </a:prstGeom>
          <a:solidFill>
            <a:srgbClr val="101C34"/>
          </a:solidFill>
          <a:ln w="6350">
            <a:solidFill>
              <a:srgbClr val="FFFFFF"/>
            </a:solidFill>
            <a:prstDash val="solid"/>
          </a:ln>
        </p:spPr>
      </p:sp>
      <p:sp>
        <p:nvSpPr>
          <p:cNvPr id="16" name="Shape 14"/>
          <p:cNvSpPr/>
          <p:nvPr/>
        </p:nvSpPr>
        <p:spPr>
          <a:xfrm>
            <a:off x="2231136" y="1984248"/>
            <a:ext cx="274320" cy="274320"/>
          </a:xfrm>
          <a:prstGeom prst="ellipse">
            <a:avLst/>
          </a:prstGeom>
          <a:solidFill>
            <a:srgbClr val="B8975A"/>
          </a:solidFill>
          <a:ln w="6350">
            <a:solidFill>
              <a:srgbClr val="FFFFFF"/>
            </a:solidFill>
            <a:prstDash val="solid"/>
          </a:ln>
        </p:spPr>
      </p:sp>
      <p:sp>
        <p:nvSpPr>
          <p:cNvPr id="17" name="Shape 15"/>
          <p:cNvSpPr/>
          <p:nvPr/>
        </p:nvSpPr>
        <p:spPr>
          <a:xfrm>
            <a:off x="2615184" y="1984248"/>
            <a:ext cx="274320" cy="274320"/>
          </a:xfrm>
          <a:prstGeom prst="ellipse">
            <a:avLst/>
          </a:prstGeom>
          <a:solidFill>
            <a:srgbClr val="B8975A"/>
          </a:solidFill>
          <a:ln w="6350">
            <a:solidFill>
              <a:srgbClr val="FFFFFF"/>
            </a:solidFill>
            <a:prstDash val="solid"/>
          </a:ln>
        </p:spPr>
      </p:sp>
      <p:sp>
        <p:nvSpPr>
          <p:cNvPr id="18" name="Shape 16"/>
          <p:cNvSpPr/>
          <p:nvPr/>
        </p:nvSpPr>
        <p:spPr>
          <a:xfrm>
            <a:off x="2999232" y="1984248"/>
            <a:ext cx="274320" cy="274320"/>
          </a:xfrm>
          <a:prstGeom prst="ellipse">
            <a:avLst/>
          </a:prstGeom>
          <a:solidFill>
            <a:srgbClr val="B8975A"/>
          </a:solidFill>
          <a:ln w="6350">
            <a:solidFill>
              <a:srgbClr val="FFFFFF"/>
            </a:solidFill>
            <a:prstDash val="solid"/>
          </a:ln>
        </p:spPr>
      </p:sp>
      <p:sp>
        <p:nvSpPr>
          <p:cNvPr id="19" name="Shape 17"/>
          <p:cNvSpPr/>
          <p:nvPr/>
        </p:nvSpPr>
        <p:spPr>
          <a:xfrm>
            <a:off x="3639312" y="1984248"/>
            <a:ext cx="274320" cy="274320"/>
          </a:xfrm>
          <a:prstGeom prst="ellipse">
            <a:avLst/>
          </a:prstGeom>
          <a:solidFill>
            <a:srgbClr val="101C34"/>
          </a:solidFill>
          <a:ln w="6350">
            <a:solidFill>
              <a:srgbClr val="FFFFFF"/>
            </a:solidFill>
            <a:prstDash val="solid"/>
          </a:ln>
        </p:spPr>
      </p:sp>
      <p:sp>
        <p:nvSpPr>
          <p:cNvPr id="20" name="Shape 18"/>
          <p:cNvSpPr/>
          <p:nvPr/>
        </p:nvSpPr>
        <p:spPr>
          <a:xfrm>
            <a:off x="4023360" y="1984248"/>
            <a:ext cx="274320" cy="274320"/>
          </a:xfrm>
          <a:prstGeom prst="ellipse">
            <a:avLst/>
          </a:prstGeom>
          <a:solidFill>
            <a:srgbClr val="101C34"/>
          </a:solidFill>
          <a:ln w="6350">
            <a:solidFill>
              <a:srgbClr val="FFFFFF"/>
            </a:solidFill>
            <a:prstDash val="solid"/>
          </a:ln>
        </p:spPr>
      </p:sp>
      <p:sp>
        <p:nvSpPr>
          <p:cNvPr id="21" name="Shape 19"/>
          <p:cNvSpPr/>
          <p:nvPr/>
        </p:nvSpPr>
        <p:spPr>
          <a:xfrm>
            <a:off x="4407408" y="1984248"/>
            <a:ext cx="274320" cy="274320"/>
          </a:xfrm>
          <a:prstGeom prst="ellipse">
            <a:avLst/>
          </a:prstGeom>
          <a:solidFill>
            <a:srgbClr val="101C34"/>
          </a:solidFill>
          <a:ln w="6350">
            <a:solidFill>
              <a:srgbClr val="FFFFFF"/>
            </a:solidFill>
            <a:prstDash val="solid"/>
          </a:ln>
        </p:spPr>
      </p:sp>
      <p:sp>
        <p:nvSpPr>
          <p:cNvPr id="22" name="Shape 20"/>
          <p:cNvSpPr/>
          <p:nvPr/>
        </p:nvSpPr>
        <p:spPr>
          <a:xfrm>
            <a:off x="822960" y="2368296"/>
            <a:ext cx="274320" cy="274320"/>
          </a:xfrm>
          <a:prstGeom prst="ellipse">
            <a:avLst/>
          </a:prstGeom>
          <a:solidFill>
            <a:srgbClr val="101C34"/>
          </a:solidFill>
          <a:ln w="6350">
            <a:solidFill>
              <a:srgbClr val="FFFFFF"/>
            </a:solidFill>
            <a:prstDash val="solid"/>
          </a:ln>
        </p:spPr>
      </p:sp>
      <p:sp>
        <p:nvSpPr>
          <p:cNvPr id="23" name="Shape 21"/>
          <p:cNvSpPr/>
          <p:nvPr/>
        </p:nvSpPr>
        <p:spPr>
          <a:xfrm>
            <a:off x="1207008" y="2368296"/>
            <a:ext cx="274320" cy="274320"/>
          </a:xfrm>
          <a:prstGeom prst="ellipse">
            <a:avLst/>
          </a:prstGeom>
          <a:solidFill>
            <a:srgbClr val="101C34"/>
          </a:solidFill>
          <a:ln w="6350">
            <a:solidFill>
              <a:srgbClr val="FFFFFF"/>
            </a:solidFill>
            <a:prstDash val="solid"/>
          </a:ln>
        </p:spPr>
      </p:sp>
      <p:sp>
        <p:nvSpPr>
          <p:cNvPr id="24" name="Shape 22"/>
          <p:cNvSpPr/>
          <p:nvPr/>
        </p:nvSpPr>
        <p:spPr>
          <a:xfrm>
            <a:off x="1591056" y="2368296"/>
            <a:ext cx="274320" cy="274320"/>
          </a:xfrm>
          <a:prstGeom prst="ellipse">
            <a:avLst/>
          </a:prstGeom>
          <a:solidFill>
            <a:srgbClr val="101C34"/>
          </a:solidFill>
          <a:ln w="6350">
            <a:solidFill>
              <a:srgbClr val="FFFFFF"/>
            </a:solidFill>
            <a:prstDash val="solid"/>
          </a:ln>
        </p:spPr>
      </p:sp>
      <p:sp>
        <p:nvSpPr>
          <p:cNvPr id="25" name="Shape 23"/>
          <p:cNvSpPr/>
          <p:nvPr/>
        </p:nvSpPr>
        <p:spPr>
          <a:xfrm>
            <a:off x="2231136" y="2368296"/>
            <a:ext cx="274320" cy="274320"/>
          </a:xfrm>
          <a:prstGeom prst="ellipse">
            <a:avLst/>
          </a:prstGeom>
          <a:solidFill>
            <a:srgbClr val="B8975A"/>
          </a:solidFill>
          <a:ln w="6350">
            <a:solidFill>
              <a:srgbClr val="FFFFFF"/>
            </a:solidFill>
            <a:prstDash val="solid"/>
          </a:ln>
        </p:spPr>
      </p:sp>
      <p:sp>
        <p:nvSpPr>
          <p:cNvPr id="26" name="Shape 24"/>
          <p:cNvSpPr/>
          <p:nvPr/>
        </p:nvSpPr>
        <p:spPr>
          <a:xfrm>
            <a:off x="2615184" y="2368296"/>
            <a:ext cx="274320" cy="274320"/>
          </a:xfrm>
          <a:prstGeom prst="ellipse">
            <a:avLst/>
          </a:prstGeom>
          <a:solidFill>
            <a:srgbClr val="B8975A"/>
          </a:solidFill>
          <a:ln w="6350">
            <a:solidFill>
              <a:srgbClr val="FFFFFF"/>
            </a:solidFill>
            <a:prstDash val="solid"/>
          </a:ln>
        </p:spPr>
      </p:sp>
      <p:sp>
        <p:nvSpPr>
          <p:cNvPr id="27" name="Shape 25"/>
          <p:cNvSpPr/>
          <p:nvPr/>
        </p:nvSpPr>
        <p:spPr>
          <a:xfrm>
            <a:off x="2999232" y="2368296"/>
            <a:ext cx="274320" cy="274320"/>
          </a:xfrm>
          <a:prstGeom prst="ellipse">
            <a:avLst/>
          </a:prstGeom>
          <a:solidFill>
            <a:srgbClr val="B8975A"/>
          </a:solidFill>
          <a:ln w="6350">
            <a:solidFill>
              <a:srgbClr val="FFFFFF"/>
            </a:solidFill>
            <a:prstDash val="solid"/>
          </a:ln>
        </p:spPr>
      </p:sp>
      <p:sp>
        <p:nvSpPr>
          <p:cNvPr id="28" name="Shape 26"/>
          <p:cNvSpPr/>
          <p:nvPr/>
        </p:nvSpPr>
        <p:spPr>
          <a:xfrm>
            <a:off x="3639312" y="2368296"/>
            <a:ext cx="274320" cy="274320"/>
          </a:xfrm>
          <a:prstGeom prst="ellipse">
            <a:avLst/>
          </a:prstGeom>
          <a:solidFill>
            <a:srgbClr val="101C34"/>
          </a:solidFill>
          <a:ln w="6350">
            <a:solidFill>
              <a:srgbClr val="FFFFFF"/>
            </a:solidFill>
            <a:prstDash val="solid"/>
          </a:ln>
        </p:spPr>
      </p:sp>
      <p:sp>
        <p:nvSpPr>
          <p:cNvPr id="29" name="Shape 27"/>
          <p:cNvSpPr/>
          <p:nvPr/>
        </p:nvSpPr>
        <p:spPr>
          <a:xfrm>
            <a:off x="4023360" y="2368296"/>
            <a:ext cx="274320" cy="274320"/>
          </a:xfrm>
          <a:prstGeom prst="ellipse">
            <a:avLst/>
          </a:prstGeom>
          <a:solidFill>
            <a:srgbClr val="101C34"/>
          </a:solidFill>
          <a:ln w="6350">
            <a:solidFill>
              <a:srgbClr val="FFFFFF"/>
            </a:solidFill>
            <a:prstDash val="solid"/>
          </a:ln>
        </p:spPr>
      </p:sp>
      <p:sp>
        <p:nvSpPr>
          <p:cNvPr id="30" name="Shape 28"/>
          <p:cNvSpPr/>
          <p:nvPr/>
        </p:nvSpPr>
        <p:spPr>
          <a:xfrm>
            <a:off x="4407408" y="2368296"/>
            <a:ext cx="274320" cy="274320"/>
          </a:xfrm>
          <a:prstGeom prst="ellipse">
            <a:avLst/>
          </a:prstGeom>
          <a:solidFill>
            <a:srgbClr val="101C34"/>
          </a:solidFill>
          <a:ln w="6350">
            <a:solidFill>
              <a:srgbClr val="FFFFFF"/>
            </a:solidFill>
            <a:prstDash val="solid"/>
          </a:ln>
        </p:spPr>
      </p:sp>
      <p:sp>
        <p:nvSpPr>
          <p:cNvPr id="31" name="Shape 29"/>
          <p:cNvSpPr/>
          <p:nvPr/>
        </p:nvSpPr>
        <p:spPr>
          <a:xfrm>
            <a:off x="822960" y="3008376"/>
            <a:ext cx="274320" cy="274320"/>
          </a:xfrm>
          <a:prstGeom prst="ellipse">
            <a:avLst/>
          </a:prstGeom>
          <a:solidFill>
            <a:srgbClr val="B8975A"/>
          </a:solidFill>
          <a:ln w="6350">
            <a:solidFill>
              <a:srgbClr val="FFFFFF"/>
            </a:solidFill>
            <a:prstDash val="solid"/>
          </a:ln>
        </p:spPr>
      </p:sp>
      <p:sp>
        <p:nvSpPr>
          <p:cNvPr id="32" name="Shape 30"/>
          <p:cNvSpPr/>
          <p:nvPr/>
        </p:nvSpPr>
        <p:spPr>
          <a:xfrm>
            <a:off x="1207008" y="3008376"/>
            <a:ext cx="274320" cy="274320"/>
          </a:xfrm>
          <a:prstGeom prst="ellipse">
            <a:avLst/>
          </a:prstGeom>
          <a:solidFill>
            <a:srgbClr val="B8975A"/>
          </a:solidFill>
          <a:ln w="6350">
            <a:solidFill>
              <a:srgbClr val="FFFFFF"/>
            </a:solidFill>
            <a:prstDash val="solid"/>
          </a:ln>
        </p:spPr>
      </p:sp>
      <p:sp>
        <p:nvSpPr>
          <p:cNvPr id="33" name="Shape 31"/>
          <p:cNvSpPr/>
          <p:nvPr/>
        </p:nvSpPr>
        <p:spPr>
          <a:xfrm>
            <a:off x="1591056" y="3008376"/>
            <a:ext cx="274320" cy="274320"/>
          </a:xfrm>
          <a:prstGeom prst="ellipse">
            <a:avLst/>
          </a:prstGeom>
          <a:solidFill>
            <a:srgbClr val="B8975A"/>
          </a:solidFill>
          <a:ln w="6350">
            <a:solidFill>
              <a:srgbClr val="FFFFFF"/>
            </a:solidFill>
            <a:prstDash val="solid"/>
          </a:ln>
        </p:spPr>
      </p:sp>
      <p:sp>
        <p:nvSpPr>
          <p:cNvPr id="34" name="Shape 32"/>
          <p:cNvSpPr/>
          <p:nvPr/>
        </p:nvSpPr>
        <p:spPr>
          <a:xfrm>
            <a:off x="2231136" y="3008376"/>
            <a:ext cx="274320" cy="274320"/>
          </a:xfrm>
          <a:prstGeom prst="ellipse">
            <a:avLst/>
          </a:prstGeom>
          <a:solidFill>
            <a:srgbClr val="101C34"/>
          </a:solidFill>
          <a:ln w="6350">
            <a:solidFill>
              <a:srgbClr val="FFFFFF"/>
            </a:solidFill>
            <a:prstDash val="solid"/>
          </a:ln>
        </p:spPr>
      </p:sp>
      <p:sp>
        <p:nvSpPr>
          <p:cNvPr id="35" name="Shape 33"/>
          <p:cNvSpPr/>
          <p:nvPr/>
        </p:nvSpPr>
        <p:spPr>
          <a:xfrm>
            <a:off x="2615184" y="3008376"/>
            <a:ext cx="274320" cy="274320"/>
          </a:xfrm>
          <a:prstGeom prst="ellipse">
            <a:avLst/>
          </a:prstGeom>
          <a:solidFill>
            <a:srgbClr val="101C34"/>
          </a:solidFill>
          <a:ln w="6350">
            <a:solidFill>
              <a:srgbClr val="FFFFFF"/>
            </a:solidFill>
            <a:prstDash val="solid"/>
          </a:ln>
        </p:spPr>
      </p:sp>
      <p:sp>
        <p:nvSpPr>
          <p:cNvPr id="36" name="Shape 34"/>
          <p:cNvSpPr/>
          <p:nvPr/>
        </p:nvSpPr>
        <p:spPr>
          <a:xfrm>
            <a:off x="2999232" y="3008376"/>
            <a:ext cx="274320" cy="274320"/>
          </a:xfrm>
          <a:prstGeom prst="ellipse">
            <a:avLst/>
          </a:prstGeom>
          <a:solidFill>
            <a:srgbClr val="101C34"/>
          </a:solidFill>
          <a:ln w="6350">
            <a:solidFill>
              <a:srgbClr val="FFFFFF"/>
            </a:solidFill>
            <a:prstDash val="solid"/>
          </a:ln>
        </p:spPr>
      </p:sp>
      <p:sp>
        <p:nvSpPr>
          <p:cNvPr id="37" name="Shape 35"/>
          <p:cNvSpPr/>
          <p:nvPr/>
        </p:nvSpPr>
        <p:spPr>
          <a:xfrm>
            <a:off x="3639312" y="3008376"/>
            <a:ext cx="274320" cy="274320"/>
          </a:xfrm>
          <a:prstGeom prst="ellipse">
            <a:avLst/>
          </a:prstGeom>
          <a:solidFill>
            <a:srgbClr val="B8975A"/>
          </a:solidFill>
          <a:ln w="6350">
            <a:solidFill>
              <a:srgbClr val="FFFFFF"/>
            </a:solidFill>
            <a:prstDash val="solid"/>
          </a:ln>
        </p:spPr>
      </p:sp>
      <p:sp>
        <p:nvSpPr>
          <p:cNvPr id="38" name="Shape 36"/>
          <p:cNvSpPr/>
          <p:nvPr/>
        </p:nvSpPr>
        <p:spPr>
          <a:xfrm>
            <a:off x="4023360" y="3008376"/>
            <a:ext cx="274320" cy="274320"/>
          </a:xfrm>
          <a:prstGeom prst="ellipse">
            <a:avLst/>
          </a:prstGeom>
          <a:solidFill>
            <a:srgbClr val="B8975A"/>
          </a:solidFill>
          <a:ln w="6350">
            <a:solidFill>
              <a:srgbClr val="FFFFFF"/>
            </a:solidFill>
            <a:prstDash val="solid"/>
          </a:ln>
        </p:spPr>
      </p:sp>
      <p:sp>
        <p:nvSpPr>
          <p:cNvPr id="39" name="Shape 37"/>
          <p:cNvSpPr/>
          <p:nvPr/>
        </p:nvSpPr>
        <p:spPr>
          <a:xfrm>
            <a:off x="4407408" y="3008376"/>
            <a:ext cx="274320" cy="274320"/>
          </a:xfrm>
          <a:prstGeom prst="ellipse">
            <a:avLst/>
          </a:prstGeom>
          <a:solidFill>
            <a:srgbClr val="B8975A"/>
          </a:solidFill>
          <a:ln w="6350">
            <a:solidFill>
              <a:srgbClr val="FFFFFF"/>
            </a:solidFill>
            <a:prstDash val="solid"/>
          </a:ln>
        </p:spPr>
      </p:sp>
      <p:sp>
        <p:nvSpPr>
          <p:cNvPr id="40" name="Shape 38"/>
          <p:cNvSpPr/>
          <p:nvPr/>
        </p:nvSpPr>
        <p:spPr>
          <a:xfrm>
            <a:off x="822960" y="3392424"/>
            <a:ext cx="274320" cy="274320"/>
          </a:xfrm>
          <a:prstGeom prst="ellipse">
            <a:avLst/>
          </a:prstGeom>
          <a:solidFill>
            <a:srgbClr val="B8975A"/>
          </a:solidFill>
          <a:ln w="6350">
            <a:solidFill>
              <a:srgbClr val="FFFFFF"/>
            </a:solidFill>
            <a:prstDash val="solid"/>
          </a:ln>
        </p:spPr>
      </p:sp>
      <p:sp>
        <p:nvSpPr>
          <p:cNvPr id="41" name="Shape 39"/>
          <p:cNvSpPr/>
          <p:nvPr/>
        </p:nvSpPr>
        <p:spPr>
          <a:xfrm>
            <a:off x="1207008" y="3392424"/>
            <a:ext cx="274320" cy="274320"/>
          </a:xfrm>
          <a:prstGeom prst="ellipse">
            <a:avLst/>
          </a:prstGeom>
          <a:solidFill>
            <a:srgbClr val="B8975A"/>
          </a:solidFill>
          <a:ln w="6350">
            <a:solidFill>
              <a:srgbClr val="FFFFFF"/>
            </a:solidFill>
            <a:prstDash val="solid"/>
          </a:ln>
        </p:spPr>
      </p:sp>
      <p:sp>
        <p:nvSpPr>
          <p:cNvPr id="42" name="Shape 40"/>
          <p:cNvSpPr/>
          <p:nvPr/>
        </p:nvSpPr>
        <p:spPr>
          <a:xfrm>
            <a:off x="1591056" y="3392424"/>
            <a:ext cx="274320" cy="274320"/>
          </a:xfrm>
          <a:prstGeom prst="ellipse">
            <a:avLst/>
          </a:prstGeom>
          <a:solidFill>
            <a:srgbClr val="B8975A"/>
          </a:solidFill>
          <a:ln w="6350">
            <a:solidFill>
              <a:srgbClr val="FFFFFF"/>
            </a:solidFill>
            <a:prstDash val="solid"/>
          </a:ln>
        </p:spPr>
      </p:sp>
      <p:sp>
        <p:nvSpPr>
          <p:cNvPr id="43" name="Shape 41"/>
          <p:cNvSpPr/>
          <p:nvPr/>
        </p:nvSpPr>
        <p:spPr>
          <a:xfrm>
            <a:off x="2231136" y="3392424"/>
            <a:ext cx="274320" cy="274320"/>
          </a:xfrm>
          <a:prstGeom prst="ellipse">
            <a:avLst/>
          </a:prstGeom>
          <a:solidFill>
            <a:srgbClr val="101C34"/>
          </a:solidFill>
          <a:ln w="6350">
            <a:solidFill>
              <a:srgbClr val="FFFFFF"/>
            </a:solidFill>
            <a:prstDash val="solid"/>
          </a:ln>
        </p:spPr>
      </p:sp>
      <p:sp>
        <p:nvSpPr>
          <p:cNvPr id="44" name="Shape 42"/>
          <p:cNvSpPr/>
          <p:nvPr/>
        </p:nvSpPr>
        <p:spPr>
          <a:xfrm>
            <a:off x="2615184" y="3392424"/>
            <a:ext cx="274320" cy="274320"/>
          </a:xfrm>
          <a:prstGeom prst="ellipse">
            <a:avLst/>
          </a:prstGeom>
          <a:solidFill>
            <a:srgbClr val="101C34"/>
          </a:solidFill>
          <a:ln w="6350">
            <a:solidFill>
              <a:srgbClr val="FFFFFF"/>
            </a:solidFill>
            <a:prstDash val="solid"/>
          </a:ln>
        </p:spPr>
      </p:sp>
      <p:sp>
        <p:nvSpPr>
          <p:cNvPr id="45" name="Shape 43"/>
          <p:cNvSpPr/>
          <p:nvPr/>
        </p:nvSpPr>
        <p:spPr>
          <a:xfrm>
            <a:off x="2999232" y="3392424"/>
            <a:ext cx="274320" cy="274320"/>
          </a:xfrm>
          <a:prstGeom prst="ellipse">
            <a:avLst/>
          </a:prstGeom>
          <a:solidFill>
            <a:srgbClr val="101C34"/>
          </a:solidFill>
          <a:ln w="6350">
            <a:solidFill>
              <a:srgbClr val="FFFFFF"/>
            </a:solidFill>
            <a:prstDash val="solid"/>
          </a:ln>
        </p:spPr>
      </p:sp>
      <p:sp>
        <p:nvSpPr>
          <p:cNvPr id="46" name="Shape 44"/>
          <p:cNvSpPr/>
          <p:nvPr/>
        </p:nvSpPr>
        <p:spPr>
          <a:xfrm>
            <a:off x="3639312" y="3392424"/>
            <a:ext cx="274320" cy="274320"/>
          </a:xfrm>
          <a:prstGeom prst="ellipse">
            <a:avLst/>
          </a:prstGeom>
          <a:solidFill>
            <a:srgbClr val="B8975A"/>
          </a:solidFill>
          <a:ln w="6350">
            <a:solidFill>
              <a:srgbClr val="FFFFFF"/>
            </a:solidFill>
            <a:prstDash val="solid"/>
          </a:ln>
        </p:spPr>
      </p:sp>
      <p:sp>
        <p:nvSpPr>
          <p:cNvPr id="47" name="Shape 45"/>
          <p:cNvSpPr/>
          <p:nvPr/>
        </p:nvSpPr>
        <p:spPr>
          <a:xfrm>
            <a:off x="4023360" y="3392424"/>
            <a:ext cx="274320" cy="274320"/>
          </a:xfrm>
          <a:prstGeom prst="ellipse">
            <a:avLst/>
          </a:prstGeom>
          <a:solidFill>
            <a:srgbClr val="B8975A"/>
          </a:solidFill>
          <a:ln w="6350">
            <a:solidFill>
              <a:srgbClr val="FFFFFF"/>
            </a:solidFill>
            <a:prstDash val="solid"/>
          </a:ln>
        </p:spPr>
      </p:sp>
      <p:sp>
        <p:nvSpPr>
          <p:cNvPr id="48" name="Shape 46"/>
          <p:cNvSpPr/>
          <p:nvPr/>
        </p:nvSpPr>
        <p:spPr>
          <a:xfrm>
            <a:off x="4407408" y="3392424"/>
            <a:ext cx="274320" cy="274320"/>
          </a:xfrm>
          <a:prstGeom prst="ellipse">
            <a:avLst/>
          </a:prstGeom>
          <a:solidFill>
            <a:srgbClr val="B8975A"/>
          </a:solidFill>
          <a:ln w="6350">
            <a:solidFill>
              <a:srgbClr val="FFFFFF"/>
            </a:solidFill>
            <a:prstDash val="solid"/>
          </a:ln>
        </p:spPr>
      </p:sp>
      <p:sp>
        <p:nvSpPr>
          <p:cNvPr id="49" name="Shape 47"/>
          <p:cNvSpPr/>
          <p:nvPr/>
        </p:nvSpPr>
        <p:spPr>
          <a:xfrm>
            <a:off x="822960" y="3776472"/>
            <a:ext cx="274320" cy="274320"/>
          </a:xfrm>
          <a:prstGeom prst="ellipse">
            <a:avLst/>
          </a:prstGeom>
          <a:solidFill>
            <a:srgbClr val="B8975A"/>
          </a:solidFill>
          <a:ln w="6350">
            <a:solidFill>
              <a:srgbClr val="FFFFFF"/>
            </a:solidFill>
            <a:prstDash val="solid"/>
          </a:ln>
        </p:spPr>
      </p:sp>
      <p:sp>
        <p:nvSpPr>
          <p:cNvPr id="50" name="Shape 48"/>
          <p:cNvSpPr/>
          <p:nvPr/>
        </p:nvSpPr>
        <p:spPr>
          <a:xfrm>
            <a:off x="1207008" y="3776472"/>
            <a:ext cx="274320" cy="274320"/>
          </a:xfrm>
          <a:prstGeom prst="ellipse">
            <a:avLst/>
          </a:prstGeom>
          <a:solidFill>
            <a:srgbClr val="B8975A"/>
          </a:solidFill>
          <a:ln w="6350">
            <a:solidFill>
              <a:srgbClr val="FFFFFF"/>
            </a:solidFill>
            <a:prstDash val="solid"/>
          </a:ln>
        </p:spPr>
      </p:sp>
      <p:sp>
        <p:nvSpPr>
          <p:cNvPr id="51" name="Shape 49"/>
          <p:cNvSpPr/>
          <p:nvPr/>
        </p:nvSpPr>
        <p:spPr>
          <a:xfrm>
            <a:off x="1591056" y="3776472"/>
            <a:ext cx="274320" cy="274320"/>
          </a:xfrm>
          <a:prstGeom prst="ellipse">
            <a:avLst/>
          </a:prstGeom>
          <a:solidFill>
            <a:srgbClr val="B8975A"/>
          </a:solidFill>
          <a:ln w="6350">
            <a:solidFill>
              <a:srgbClr val="FFFFFF"/>
            </a:solidFill>
            <a:prstDash val="solid"/>
          </a:ln>
        </p:spPr>
      </p:sp>
      <p:sp>
        <p:nvSpPr>
          <p:cNvPr id="52" name="Shape 50"/>
          <p:cNvSpPr/>
          <p:nvPr/>
        </p:nvSpPr>
        <p:spPr>
          <a:xfrm>
            <a:off x="2231136" y="3776472"/>
            <a:ext cx="274320" cy="274320"/>
          </a:xfrm>
          <a:prstGeom prst="ellipse">
            <a:avLst/>
          </a:prstGeom>
          <a:solidFill>
            <a:srgbClr val="101C34"/>
          </a:solidFill>
          <a:ln w="6350">
            <a:solidFill>
              <a:srgbClr val="FFFFFF"/>
            </a:solidFill>
            <a:prstDash val="solid"/>
          </a:ln>
        </p:spPr>
      </p:sp>
      <p:sp>
        <p:nvSpPr>
          <p:cNvPr id="53" name="Shape 51"/>
          <p:cNvSpPr/>
          <p:nvPr/>
        </p:nvSpPr>
        <p:spPr>
          <a:xfrm>
            <a:off x="2615184" y="3776472"/>
            <a:ext cx="274320" cy="274320"/>
          </a:xfrm>
          <a:prstGeom prst="ellipse">
            <a:avLst/>
          </a:prstGeom>
          <a:solidFill>
            <a:srgbClr val="101C34"/>
          </a:solidFill>
          <a:ln w="6350">
            <a:solidFill>
              <a:srgbClr val="FFFFFF"/>
            </a:solidFill>
            <a:prstDash val="solid"/>
          </a:ln>
        </p:spPr>
      </p:sp>
      <p:sp>
        <p:nvSpPr>
          <p:cNvPr id="54" name="Shape 52"/>
          <p:cNvSpPr/>
          <p:nvPr/>
        </p:nvSpPr>
        <p:spPr>
          <a:xfrm>
            <a:off x="2999232" y="3776472"/>
            <a:ext cx="274320" cy="274320"/>
          </a:xfrm>
          <a:prstGeom prst="ellipse">
            <a:avLst/>
          </a:prstGeom>
          <a:solidFill>
            <a:srgbClr val="101C34"/>
          </a:solidFill>
          <a:ln w="6350">
            <a:solidFill>
              <a:srgbClr val="FFFFFF"/>
            </a:solidFill>
            <a:prstDash val="solid"/>
          </a:ln>
        </p:spPr>
      </p:sp>
      <p:sp>
        <p:nvSpPr>
          <p:cNvPr id="55" name="Shape 53"/>
          <p:cNvSpPr/>
          <p:nvPr/>
        </p:nvSpPr>
        <p:spPr>
          <a:xfrm>
            <a:off x="3639312" y="3776472"/>
            <a:ext cx="274320" cy="274320"/>
          </a:xfrm>
          <a:prstGeom prst="ellipse">
            <a:avLst/>
          </a:prstGeom>
          <a:solidFill>
            <a:srgbClr val="B8975A"/>
          </a:solidFill>
          <a:ln w="6350">
            <a:solidFill>
              <a:srgbClr val="FFFFFF"/>
            </a:solidFill>
            <a:prstDash val="solid"/>
          </a:ln>
        </p:spPr>
      </p:sp>
      <p:sp>
        <p:nvSpPr>
          <p:cNvPr id="56" name="Shape 54"/>
          <p:cNvSpPr/>
          <p:nvPr/>
        </p:nvSpPr>
        <p:spPr>
          <a:xfrm>
            <a:off x="4023360" y="3776472"/>
            <a:ext cx="274320" cy="274320"/>
          </a:xfrm>
          <a:prstGeom prst="ellipse">
            <a:avLst/>
          </a:prstGeom>
          <a:solidFill>
            <a:srgbClr val="B8975A"/>
          </a:solidFill>
          <a:ln w="6350">
            <a:solidFill>
              <a:srgbClr val="FFFFFF"/>
            </a:solidFill>
            <a:prstDash val="solid"/>
          </a:ln>
        </p:spPr>
      </p:sp>
      <p:sp>
        <p:nvSpPr>
          <p:cNvPr id="57" name="Shape 55"/>
          <p:cNvSpPr/>
          <p:nvPr/>
        </p:nvSpPr>
        <p:spPr>
          <a:xfrm>
            <a:off x="4407408" y="3776472"/>
            <a:ext cx="274320" cy="274320"/>
          </a:xfrm>
          <a:prstGeom prst="ellipse">
            <a:avLst/>
          </a:prstGeom>
          <a:solidFill>
            <a:srgbClr val="B8975A"/>
          </a:solidFill>
          <a:ln w="6350">
            <a:solidFill>
              <a:srgbClr val="FFFFFF"/>
            </a:solidFill>
            <a:prstDash val="solid"/>
          </a:ln>
        </p:spPr>
      </p:sp>
      <p:sp>
        <p:nvSpPr>
          <p:cNvPr id="58" name="Shape 56"/>
          <p:cNvSpPr/>
          <p:nvPr/>
        </p:nvSpPr>
        <p:spPr>
          <a:xfrm>
            <a:off x="822960" y="4416552"/>
            <a:ext cx="274320" cy="274320"/>
          </a:xfrm>
          <a:prstGeom prst="ellipse">
            <a:avLst/>
          </a:prstGeom>
          <a:solidFill>
            <a:srgbClr val="101C34"/>
          </a:solidFill>
          <a:ln w="6350">
            <a:solidFill>
              <a:srgbClr val="FFFFFF"/>
            </a:solidFill>
            <a:prstDash val="solid"/>
          </a:ln>
        </p:spPr>
      </p:sp>
      <p:sp>
        <p:nvSpPr>
          <p:cNvPr id="59" name="Shape 57"/>
          <p:cNvSpPr/>
          <p:nvPr/>
        </p:nvSpPr>
        <p:spPr>
          <a:xfrm>
            <a:off x="1207008" y="4416552"/>
            <a:ext cx="274320" cy="274320"/>
          </a:xfrm>
          <a:prstGeom prst="ellipse">
            <a:avLst/>
          </a:prstGeom>
          <a:solidFill>
            <a:srgbClr val="101C34"/>
          </a:solidFill>
          <a:ln w="6350">
            <a:solidFill>
              <a:srgbClr val="FFFFFF"/>
            </a:solidFill>
            <a:prstDash val="solid"/>
          </a:ln>
        </p:spPr>
      </p:sp>
      <p:sp>
        <p:nvSpPr>
          <p:cNvPr id="60" name="Shape 58"/>
          <p:cNvSpPr/>
          <p:nvPr/>
        </p:nvSpPr>
        <p:spPr>
          <a:xfrm>
            <a:off x="1591056" y="4416552"/>
            <a:ext cx="274320" cy="274320"/>
          </a:xfrm>
          <a:prstGeom prst="ellipse">
            <a:avLst/>
          </a:prstGeom>
          <a:solidFill>
            <a:srgbClr val="101C34"/>
          </a:solidFill>
          <a:ln w="6350">
            <a:solidFill>
              <a:srgbClr val="FFFFFF"/>
            </a:solidFill>
            <a:prstDash val="solid"/>
          </a:ln>
        </p:spPr>
      </p:sp>
      <p:sp>
        <p:nvSpPr>
          <p:cNvPr id="61" name="Shape 59"/>
          <p:cNvSpPr/>
          <p:nvPr/>
        </p:nvSpPr>
        <p:spPr>
          <a:xfrm>
            <a:off x="2231136" y="4416552"/>
            <a:ext cx="274320" cy="274320"/>
          </a:xfrm>
          <a:prstGeom prst="ellipse">
            <a:avLst/>
          </a:prstGeom>
          <a:solidFill>
            <a:srgbClr val="B8975A"/>
          </a:solidFill>
          <a:ln w="6350">
            <a:solidFill>
              <a:srgbClr val="FFFFFF"/>
            </a:solidFill>
            <a:prstDash val="solid"/>
          </a:ln>
        </p:spPr>
      </p:sp>
      <p:sp>
        <p:nvSpPr>
          <p:cNvPr id="62" name="Shape 60"/>
          <p:cNvSpPr/>
          <p:nvPr/>
        </p:nvSpPr>
        <p:spPr>
          <a:xfrm>
            <a:off x="2615184" y="4416552"/>
            <a:ext cx="274320" cy="274320"/>
          </a:xfrm>
          <a:prstGeom prst="ellipse">
            <a:avLst/>
          </a:prstGeom>
          <a:solidFill>
            <a:srgbClr val="B8975A"/>
          </a:solidFill>
          <a:ln w="6350">
            <a:solidFill>
              <a:srgbClr val="FFFFFF"/>
            </a:solidFill>
            <a:prstDash val="solid"/>
          </a:ln>
        </p:spPr>
      </p:sp>
      <p:sp>
        <p:nvSpPr>
          <p:cNvPr id="63" name="Shape 61"/>
          <p:cNvSpPr/>
          <p:nvPr/>
        </p:nvSpPr>
        <p:spPr>
          <a:xfrm>
            <a:off x="2999232" y="4416552"/>
            <a:ext cx="274320" cy="274320"/>
          </a:xfrm>
          <a:prstGeom prst="ellipse">
            <a:avLst/>
          </a:prstGeom>
          <a:solidFill>
            <a:srgbClr val="B8975A"/>
          </a:solidFill>
          <a:ln w="6350">
            <a:solidFill>
              <a:srgbClr val="FFFFFF"/>
            </a:solidFill>
            <a:prstDash val="solid"/>
          </a:ln>
        </p:spPr>
      </p:sp>
      <p:sp>
        <p:nvSpPr>
          <p:cNvPr id="64" name="Shape 62"/>
          <p:cNvSpPr/>
          <p:nvPr/>
        </p:nvSpPr>
        <p:spPr>
          <a:xfrm>
            <a:off x="3639312" y="4416552"/>
            <a:ext cx="274320" cy="274320"/>
          </a:xfrm>
          <a:prstGeom prst="ellipse">
            <a:avLst/>
          </a:prstGeom>
          <a:solidFill>
            <a:srgbClr val="101C34"/>
          </a:solidFill>
          <a:ln w="6350">
            <a:solidFill>
              <a:srgbClr val="FFFFFF"/>
            </a:solidFill>
            <a:prstDash val="solid"/>
          </a:ln>
        </p:spPr>
      </p:sp>
      <p:sp>
        <p:nvSpPr>
          <p:cNvPr id="65" name="Shape 63"/>
          <p:cNvSpPr/>
          <p:nvPr/>
        </p:nvSpPr>
        <p:spPr>
          <a:xfrm>
            <a:off x="4023360" y="4416552"/>
            <a:ext cx="274320" cy="274320"/>
          </a:xfrm>
          <a:prstGeom prst="ellipse">
            <a:avLst/>
          </a:prstGeom>
          <a:solidFill>
            <a:srgbClr val="101C34"/>
          </a:solidFill>
          <a:ln w="6350">
            <a:solidFill>
              <a:srgbClr val="FFFFFF"/>
            </a:solidFill>
            <a:prstDash val="solid"/>
          </a:ln>
        </p:spPr>
      </p:sp>
      <p:sp>
        <p:nvSpPr>
          <p:cNvPr id="66" name="Shape 64"/>
          <p:cNvSpPr/>
          <p:nvPr/>
        </p:nvSpPr>
        <p:spPr>
          <a:xfrm>
            <a:off x="4407408" y="4416552"/>
            <a:ext cx="274320" cy="274320"/>
          </a:xfrm>
          <a:prstGeom prst="ellipse">
            <a:avLst/>
          </a:prstGeom>
          <a:solidFill>
            <a:srgbClr val="101C34"/>
          </a:solidFill>
          <a:ln w="6350">
            <a:solidFill>
              <a:srgbClr val="FFFFFF"/>
            </a:solidFill>
            <a:prstDash val="solid"/>
          </a:ln>
        </p:spPr>
      </p:sp>
      <p:sp>
        <p:nvSpPr>
          <p:cNvPr id="67" name="Shape 65"/>
          <p:cNvSpPr/>
          <p:nvPr/>
        </p:nvSpPr>
        <p:spPr>
          <a:xfrm>
            <a:off x="822960" y="4800600"/>
            <a:ext cx="274320" cy="274320"/>
          </a:xfrm>
          <a:prstGeom prst="ellipse">
            <a:avLst/>
          </a:prstGeom>
          <a:solidFill>
            <a:srgbClr val="101C34"/>
          </a:solidFill>
          <a:ln w="6350">
            <a:solidFill>
              <a:srgbClr val="FFFFFF"/>
            </a:solidFill>
            <a:prstDash val="solid"/>
          </a:ln>
        </p:spPr>
      </p:sp>
      <p:sp>
        <p:nvSpPr>
          <p:cNvPr id="68" name="Shape 66"/>
          <p:cNvSpPr/>
          <p:nvPr/>
        </p:nvSpPr>
        <p:spPr>
          <a:xfrm>
            <a:off x="1207008" y="4800600"/>
            <a:ext cx="274320" cy="274320"/>
          </a:xfrm>
          <a:prstGeom prst="ellipse">
            <a:avLst/>
          </a:prstGeom>
          <a:solidFill>
            <a:srgbClr val="101C34"/>
          </a:solidFill>
          <a:ln w="6350">
            <a:solidFill>
              <a:srgbClr val="FFFFFF"/>
            </a:solidFill>
            <a:prstDash val="solid"/>
          </a:ln>
        </p:spPr>
      </p:sp>
      <p:sp>
        <p:nvSpPr>
          <p:cNvPr id="69" name="Shape 67"/>
          <p:cNvSpPr/>
          <p:nvPr/>
        </p:nvSpPr>
        <p:spPr>
          <a:xfrm>
            <a:off x="1591056" y="4800600"/>
            <a:ext cx="274320" cy="274320"/>
          </a:xfrm>
          <a:prstGeom prst="ellipse">
            <a:avLst/>
          </a:prstGeom>
          <a:solidFill>
            <a:srgbClr val="101C34"/>
          </a:solidFill>
          <a:ln w="6350">
            <a:solidFill>
              <a:srgbClr val="FFFFFF"/>
            </a:solidFill>
            <a:prstDash val="solid"/>
          </a:ln>
        </p:spPr>
      </p:sp>
      <p:sp>
        <p:nvSpPr>
          <p:cNvPr id="70" name="Shape 68"/>
          <p:cNvSpPr/>
          <p:nvPr/>
        </p:nvSpPr>
        <p:spPr>
          <a:xfrm>
            <a:off x="2231136" y="4800600"/>
            <a:ext cx="274320" cy="274320"/>
          </a:xfrm>
          <a:prstGeom prst="ellipse">
            <a:avLst/>
          </a:prstGeom>
          <a:solidFill>
            <a:srgbClr val="B8975A"/>
          </a:solidFill>
          <a:ln w="6350">
            <a:solidFill>
              <a:srgbClr val="FFFFFF"/>
            </a:solidFill>
            <a:prstDash val="solid"/>
          </a:ln>
        </p:spPr>
      </p:sp>
      <p:sp>
        <p:nvSpPr>
          <p:cNvPr id="71" name="Shape 69"/>
          <p:cNvSpPr/>
          <p:nvPr/>
        </p:nvSpPr>
        <p:spPr>
          <a:xfrm>
            <a:off x="2615184" y="4800600"/>
            <a:ext cx="274320" cy="274320"/>
          </a:xfrm>
          <a:prstGeom prst="ellipse">
            <a:avLst/>
          </a:prstGeom>
          <a:solidFill>
            <a:srgbClr val="B8975A"/>
          </a:solidFill>
          <a:ln w="6350">
            <a:solidFill>
              <a:srgbClr val="FFFFFF"/>
            </a:solidFill>
            <a:prstDash val="solid"/>
          </a:ln>
        </p:spPr>
      </p:sp>
      <p:sp>
        <p:nvSpPr>
          <p:cNvPr id="72" name="Shape 70"/>
          <p:cNvSpPr/>
          <p:nvPr/>
        </p:nvSpPr>
        <p:spPr>
          <a:xfrm>
            <a:off x="2999232" y="4800600"/>
            <a:ext cx="274320" cy="274320"/>
          </a:xfrm>
          <a:prstGeom prst="ellipse">
            <a:avLst/>
          </a:prstGeom>
          <a:solidFill>
            <a:srgbClr val="B8975A"/>
          </a:solidFill>
          <a:ln w="6350">
            <a:solidFill>
              <a:srgbClr val="FFFFFF"/>
            </a:solidFill>
            <a:prstDash val="solid"/>
          </a:ln>
        </p:spPr>
      </p:sp>
      <p:sp>
        <p:nvSpPr>
          <p:cNvPr id="73" name="Shape 71"/>
          <p:cNvSpPr/>
          <p:nvPr/>
        </p:nvSpPr>
        <p:spPr>
          <a:xfrm>
            <a:off x="3639312" y="4800600"/>
            <a:ext cx="274320" cy="274320"/>
          </a:xfrm>
          <a:prstGeom prst="ellipse">
            <a:avLst/>
          </a:prstGeom>
          <a:solidFill>
            <a:srgbClr val="101C34"/>
          </a:solidFill>
          <a:ln w="6350">
            <a:solidFill>
              <a:srgbClr val="FFFFFF"/>
            </a:solidFill>
            <a:prstDash val="solid"/>
          </a:ln>
        </p:spPr>
      </p:sp>
      <p:sp>
        <p:nvSpPr>
          <p:cNvPr id="74" name="Shape 72"/>
          <p:cNvSpPr/>
          <p:nvPr/>
        </p:nvSpPr>
        <p:spPr>
          <a:xfrm>
            <a:off x="4023360" y="4800600"/>
            <a:ext cx="274320" cy="274320"/>
          </a:xfrm>
          <a:prstGeom prst="ellipse">
            <a:avLst/>
          </a:prstGeom>
          <a:solidFill>
            <a:srgbClr val="101C34"/>
          </a:solidFill>
          <a:ln w="6350">
            <a:solidFill>
              <a:srgbClr val="FFFFFF"/>
            </a:solidFill>
            <a:prstDash val="solid"/>
          </a:ln>
        </p:spPr>
      </p:sp>
      <p:sp>
        <p:nvSpPr>
          <p:cNvPr id="75" name="Shape 73"/>
          <p:cNvSpPr/>
          <p:nvPr/>
        </p:nvSpPr>
        <p:spPr>
          <a:xfrm>
            <a:off x="4407408" y="4800600"/>
            <a:ext cx="274320" cy="274320"/>
          </a:xfrm>
          <a:prstGeom prst="ellipse">
            <a:avLst/>
          </a:prstGeom>
          <a:solidFill>
            <a:srgbClr val="101C34"/>
          </a:solidFill>
          <a:ln w="6350">
            <a:solidFill>
              <a:srgbClr val="FFFFFF"/>
            </a:solidFill>
            <a:prstDash val="solid"/>
          </a:ln>
        </p:spPr>
      </p:sp>
      <p:sp>
        <p:nvSpPr>
          <p:cNvPr id="76" name="Shape 74"/>
          <p:cNvSpPr/>
          <p:nvPr/>
        </p:nvSpPr>
        <p:spPr>
          <a:xfrm>
            <a:off x="822960" y="5184648"/>
            <a:ext cx="274320" cy="274320"/>
          </a:xfrm>
          <a:prstGeom prst="ellipse">
            <a:avLst/>
          </a:prstGeom>
          <a:solidFill>
            <a:srgbClr val="101C34"/>
          </a:solidFill>
          <a:ln w="6350">
            <a:solidFill>
              <a:srgbClr val="FFFFFF"/>
            </a:solidFill>
            <a:prstDash val="solid"/>
          </a:ln>
        </p:spPr>
      </p:sp>
      <p:sp>
        <p:nvSpPr>
          <p:cNvPr id="77" name="Shape 75"/>
          <p:cNvSpPr/>
          <p:nvPr/>
        </p:nvSpPr>
        <p:spPr>
          <a:xfrm>
            <a:off x="1207008" y="5184648"/>
            <a:ext cx="274320" cy="274320"/>
          </a:xfrm>
          <a:prstGeom prst="ellipse">
            <a:avLst/>
          </a:prstGeom>
          <a:solidFill>
            <a:srgbClr val="101C34"/>
          </a:solidFill>
          <a:ln w="6350">
            <a:solidFill>
              <a:srgbClr val="FFFFFF"/>
            </a:solidFill>
            <a:prstDash val="solid"/>
          </a:ln>
        </p:spPr>
      </p:sp>
      <p:sp>
        <p:nvSpPr>
          <p:cNvPr id="78" name="Shape 76"/>
          <p:cNvSpPr/>
          <p:nvPr/>
        </p:nvSpPr>
        <p:spPr>
          <a:xfrm>
            <a:off x="1591056" y="5184648"/>
            <a:ext cx="274320" cy="274320"/>
          </a:xfrm>
          <a:prstGeom prst="ellipse">
            <a:avLst/>
          </a:prstGeom>
          <a:solidFill>
            <a:srgbClr val="101C34"/>
          </a:solidFill>
          <a:ln w="6350">
            <a:solidFill>
              <a:srgbClr val="FFFFFF"/>
            </a:solidFill>
            <a:prstDash val="solid"/>
          </a:ln>
        </p:spPr>
      </p:sp>
      <p:sp>
        <p:nvSpPr>
          <p:cNvPr id="79" name="Shape 77"/>
          <p:cNvSpPr/>
          <p:nvPr/>
        </p:nvSpPr>
        <p:spPr>
          <a:xfrm>
            <a:off x="2231136" y="5184648"/>
            <a:ext cx="274320" cy="274320"/>
          </a:xfrm>
          <a:prstGeom prst="ellipse">
            <a:avLst/>
          </a:prstGeom>
          <a:solidFill>
            <a:srgbClr val="B8975A"/>
          </a:solidFill>
          <a:ln w="6350">
            <a:solidFill>
              <a:srgbClr val="FFFFFF"/>
            </a:solidFill>
            <a:prstDash val="solid"/>
          </a:ln>
        </p:spPr>
      </p:sp>
      <p:sp>
        <p:nvSpPr>
          <p:cNvPr id="80" name="Shape 78"/>
          <p:cNvSpPr/>
          <p:nvPr/>
        </p:nvSpPr>
        <p:spPr>
          <a:xfrm>
            <a:off x="2615184" y="5184648"/>
            <a:ext cx="274320" cy="274320"/>
          </a:xfrm>
          <a:prstGeom prst="ellipse">
            <a:avLst/>
          </a:prstGeom>
          <a:solidFill>
            <a:srgbClr val="B8975A"/>
          </a:solidFill>
          <a:ln w="6350">
            <a:solidFill>
              <a:srgbClr val="FFFFFF"/>
            </a:solidFill>
            <a:prstDash val="solid"/>
          </a:ln>
        </p:spPr>
      </p:sp>
      <p:sp>
        <p:nvSpPr>
          <p:cNvPr id="81" name="Shape 79"/>
          <p:cNvSpPr/>
          <p:nvPr/>
        </p:nvSpPr>
        <p:spPr>
          <a:xfrm>
            <a:off x="2999232" y="5184648"/>
            <a:ext cx="274320" cy="274320"/>
          </a:xfrm>
          <a:prstGeom prst="ellipse">
            <a:avLst/>
          </a:prstGeom>
          <a:solidFill>
            <a:srgbClr val="B8975A"/>
          </a:solidFill>
          <a:ln w="6350">
            <a:solidFill>
              <a:srgbClr val="FFFFFF"/>
            </a:solidFill>
            <a:prstDash val="solid"/>
          </a:ln>
        </p:spPr>
      </p:sp>
      <p:sp>
        <p:nvSpPr>
          <p:cNvPr id="82" name="Shape 80"/>
          <p:cNvSpPr/>
          <p:nvPr/>
        </p:nvSpPr>
        <p:spPr>
          <a:xfrm>
            <a:off x="3639312" y="5184648"/>
            <a:ext cx="274320" cy="274320"/>
          </a:xfrm>
          <a:prstGeom prst="ellipse">
            <a:avLst/>
          </a:prstGeom>
          <a:solidFill>
            <a:srgbClr val="101C34"/>
          </a:solidFill>
          <a:ln w="6350">
            <a:solidFill>
              <a:srgbClr val="FFFFFF"/>
            </a:solidFill>
            <a:prstDash val="solid"/>
          </a:ln>
        </p:spPr>
      </p:sp>
      <p:sp>
        <p:nvSpPr>
          <p:cNvPr id="83" name="Shape 81"/>
          <p:cNvSpPr/>
          <p:nvPr/>
        </p:nvSpPr>
        <p:spPr>
          <a:xfrm>
            <a:off x="4023360" y="5184648"/>
            <a:ext cx="274320" cy="274320"/>
          </a:xfrm>
          <a:prstGeom prst="ellipse">
            <a:avLst/>
          </a:prstGeom>
          <a:solidFill>
            <a:srgbClr val="101C34"/>
          </a:solidFill>
          <a:ln w="6350">
            <a:solidFill>
              <a:srgbClr val="FFFFFF"/>
            </a:solidFill>
            <a:prstDash val="solid"/>
          </a:ln>
        </p:spPr>
      </p:sp>
      <p:sp>
        <p:nvSpPr>
          <p:cNvPr id="84" name="Shape 82"/>
          <p:cNvSpPr/>
          <p:nvPr/>
        </p:nvSpPr>
        <p:spPr>
          <a:xfrm>
            <a:off x="4407408" y="5184648"/>
            <a:ext cx="274320" cy="274320"/>
          </a:xfrm>
          <a:prstGeom prst="ellipse">
            <a:avLst/>
          </a:prstGeom>
          <a:solidFill>
            <a:srgbClr val="101C34"/>
          </a:solidFill>
          <a:ln w="6350">
            <a:solidFill>
              <a:srgbClr val="FFFFFF"/>
            </a:solidFill>
            <a:prstDash val="solid"/>
          </a:ln>
        </p:spPr>
      </p:sp>
      <p:sp>
        <p:nvSpPr>
          <p:cNvPr id="85" name="Text 83"/>
          <p:cNvSpPr txBox="1"/>
          <p:nvPr/>
        </p:nvSpPr>
        <p:spPr>
          <a:xfrm>
            <a:off x="6035040" y="1828800"/>
            <a:ext cx="5669280" cy="3474720"/>
          </a:xfrm>
          <a:prstGeom prst="rect">
            <a:avLst/>
          </a:prstGeom>
          <a:noFill/>
          <a:ln/>
        </p:spPr>
        <p:txBody>
          <a:bodyPr wrap="square" lIns="0" tIns="0" rIns="0" bIns="0" rtlCol="0" anchor="t"/>
          <a:lstStyle/>
          <a:p>
            <a:pPr indent="0" marL="0">
              <a:buNone/>
            </a:pPr>
            <a:r>
              <a:rPr lang="en-US" sz="4400" b="1" dirty="0">
                <a:solidFill>
                  <a:srgbClr val="101C34"/>
                </a:solidFill>
                <a:latin typeface="Cambria" pitchFamily="34" charset="0"/>
                <a:ea typeface="Cambria" pitchFamily="34" charset="-122"/>
                <a:cs typeface="Cambria" pitchFamily="34" charset="-120"/>
              </a:rPr>
              <a:t>9 × 9 = 81</a:t>
            </a:r>
            <a:endParaRPr lang="en-US" sz="4400" dirty="0"/>
          </a:p>
          <a:p>
            <a:pPr indent="0" marL="0">
              <a:buNone/>
            </a:pPr>
            <a:r>
              <a:rPr lang="en-US" sz="3000" b="1" dirty="0">
                <a:solidFill>
                  <a:srgbClr val="B8975A"/>
                </a:solidFill>
                <a:latin typeface="Cambria" pitchFamily="34" charset="0"/>
                <a:ea typeface="Cambria" pitchFamily="34" charset="-122"/>
                <a:cs typeface="Cambria" pitchFamily="34" charset="-120"/>
              </a:rPr>
              <a:t>3 × 3 × 3 × 3</a:t>
            </a:r>
            <a:endParaRPr lang="en-US" sz="4400" dirty="0"/>
          </a:p>
          <a:p>
            <a:pPr indent="0" marL="0">
              <a:buNone/>
            </a:pPr>
            <a:r>
              <a:rPr lang="en-US" sz="1000" dirty="0">
                <a:solidFill>
                  <a:srgbClr val="000000"/>
                </a:solidFill>
              </a:rPr>
              <a:t> </a:t>
            </a:r>
            <a:endParaRPr lang="en-US" sz="4400" dirty="0"/>
          </a:p>
          <a:p>
            <a:pPr indent="0" marL="0">
              <a:buNone/>
            </a:pPr>
            <a:r>
              <a:rPr lang="en-US" sz="2400" dirty="0">
                <a:solidFill>
                  <a:srgbClr val="1B2438"/>
                </a:solidFill>
                <a:latin typeface="Calibri" pitchFamily="34" charset="0"/>
                <a:ea typeface="Calibri" pitchFamily="34" charset="-122"/>
                <a:cs typeface="Calibri" pitchFamily="34" charset="-120"/>
              </a:rPr>
              <a:t>T.V.T. — Três Vezes Três</a:t>
            </a:r>
            <a:endParaRPr lang="en-US" sz="4400" dirty="0"/>
          </a:p>
          <a:p>
            <a:pPr indent="0" marL="0">
              <a:buNone/>
            </a:pPr>
            <a:r>
              <a:rPr lang="en-US" sz="1600" i="1" dirty="0">
                <a:solidFill>
                  <a:srgbClr val="5E6676"/>
                </a:solidFill>
                <a:latin typeface="Calibri" pitchFamily="34" charset="0"/>
                <a:ea typeface="Calibri" pitchFamily="34" charset="-122"/>
                <a:cs typeface="Calibri" pitchFamily="34" charset="-120"/>
              </a:rPr>
              <a:t>Plenitude do ternário: interpretação, não documento</a:t>
            </a:r>
            <a:endParaRPr lang="en-US" sz="4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676"/>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68680"/>
          </a:xfrm>
          <a:prstGeom prst="rect">
            <a:avLst/>
          </a:prstGeom>
          <a:noFill/>
          <a:ln/>
        </p:spPr>
        <p:txBody>
          <a:bodyPr wrap="square" lIns="0" tIns="0" rIns="0" bIns="0" rtlCol="0" anchor="ctr"/>
          <a:lstStyle/>
          <a:p>
            <a:pPr indent="0" marL="0">
              <a:buNone/>
            </a:pPr>
            <a:r>
              <a:rPr lang="en-US" sz="3600" b="1" dirty="0">
                <a:solidFill>
                  <a:srgbClr val="101C34"/>
                </a:solidFill>
                <a:latin typeface="Cambria" pitchFamily="34" charset="0"/>
                <a:ea typeface="Cambria" pitchFamily="34" charset="-122"/>
                <a:cs typeface="Cambria" pitchFamily="34" charset="-120"/>
              </a:rPr>
              <a:t>O nó: ninguém está só</a:t>
            </a:r>
            <a:endParaRPr lang="en-US" sz="3600" dirty="0"/>
          </a:p>
        </p:txBody>
      </p:sp>
      <p:sp>
        <p:nvSpPr>
          <p:cNvPr id="3" name="Text 1"/>
          <p:cNvSpPr txBox="1"/>
          <p:nvPr/>
        </p:nvSpPr>
        <p:spPr>
          <a:xfrm>
            <a:off x="11247120" y="6400800"/>
            <a:ext cx="457200" cy="274320"/>
          </a:xfrm>
          <a:prstGeom prst="rect">
            <a:avLst/>
          </a:prstGeom>
          <a:noFill/>
          <a:ln/>
        </p:spPr>
        <p:txBody>
          <a:bodyPr wrap="square" rtlCol="0" anchor="ctr"/>
          <a:lstStyle/>
          <a:p>
            <a:pPr indent="0" marL="0">
              <a:buNone/>
            </a:pPr>
            <a:endParaRPr lang="en-US" dirty="0"/>
          </a:p>
        </p:txBody>
      </p:sp>
      <p:sp>
        <p:nvSpPr>
          <p:cNvPr id="4" name="Shape 2"/>
          <p:cNvSpPr/>
          <p:nvPr/>
        </p:nvSpPr>
        <p:spPr>
          <a:xfrm>
            <a:off x="822960" y="1737360"/>
            <a:ext cx="1828800" cy="1005840"/>
          </a:xfrm>
          <a:prstGeom prst="ellipse">
            <a:avLst/>
          </a:prstGeom>
          <a:ln w="63500">
            <a:solidFill>
              <a:srgbClr val="101C34"/>
            </a:solidFill>
            <a:prstDash val="solid"/>
          </a:ln>
        </p:spPr>
      </p:sp>
      <p:sp>
        <p:nvSpPr>
          <p:cNvPr id="5" name="Shape 3"/>
          <p:cNvSpPr/>
          <p:nvPr/>
        </p:nvSpPr>
        <p:spPr>
          <a:xfrm>
            <a:off x="2240280" y="1737360"/>
            <a:ext cx="1828800" cy="1005840"/>
          </a:xfrm>
          <a:prstGeom prst="ellipse">
            <a:avLst/>
          </a:prstGeom>
          <a:ln w="63500">
            <a:solidFill>
              <a:srgbClr val="B8975A"/>
            </a:solidFill>
            <a:prstDash val="solid"/>
          </a:ln>
        </p:spPr>
      </p:sp>
      <p:sp>
        <p:nvSpPr>
          <p:cNvPr id="6" name="Shape 4"/>
          <p:cNvSpPr/>
          <p:nvPr/>
        </p:nvSpPr>
        <p:spPr>
          <a:xfrm>
            <a:off x="3657600" y="1737360"/>
            <a:ext cx="1828800" cy="1005840"/>
          </a:xfrm>
          <a:prstGeom prst="ellipse">
            <a:avLst/>
          </a:prstGeom>
          <a:ln w="63500">
            <a:solidFill>
              <a:srgbClr val="101C34"/>
            </a:solidFill>
            <a:prstDash val="solid"/>
          </a:ln>
        </p:spPr>
      </p:sp>
      <p:sp>
        <p:nvSpPr>
          <p:cNvPr id="7" name="Shape 5"/>
          <p:cNvSpPr/>
          <p:nvPr/>
        </p:nvSpPr>
        <p:spPr>
          <a:xfrm>
            <a:off x="5074920" y="1737360"/>
            <a:ext cx="1828800" cy="1005840"/>
          </a:xfrm>
          <a:prstGeom prst="ellipse">
            <a:avLst/>
          </a:prstGeom>
          <a:ln w="63500">
            <a:solidFill>
              <a:srgbClr val="B8975A"/>
            </a:solidFill>
            <a:prstDash val="solid"/>
          </a:ln>
        </p:spPr>
      </p:sp>
      <p:sp>
        <p:nvSpPr>
          <p:cNvPr id="8" name="Shape 6"/>
          <p:cNvSpPr/>
          <p:nvPr/>
        </p:nvSpPr>
        <p:spPr>
          <a:xfrm>
            <a:off x="6492240" y="1737360"/>
            <a:ext cx="1828800" cy="1005840"/>
          </a:xfrm>
          <a:prstGeom prst="ellipse">
            <a:avLst/>
          </a:prstGeom>
          <a:ln w="63500">
            <a:solidFill>
              <a:srgbClr val="101C34"/>
            </a:solidFill>
            <a:prstDash val="solid"/>
          </a:ln>
        </p:spPr>
      </p:sp>
      <p:sp>
        <p:nvSpPr>
          <p:cNvPr id="9" name="Shape 7"/>
          <p:cNvSpPr/>
          <p:nvPr/>
        </p:nvSpPr>
        <p:spPr>
          <a:xfrm>
            <a:off x="7909560" y="1737360"/>
            <a:ext cx="1828800" cy="1005840"/>
          </a:xfrm>
          <a:prstGeom prst="ellipse">
            <a:avLst/>
          </a:prstGeom>
          <a:ln w="63500">
            <a:solidFill>
              <a:srgbClr val="B8975A"/>
            </a:solidFill>
            <a:prstDash val="solid"/>
          </a:ln>
        </p:spPr>
      </p:sp>
      <p:sp>
        <p:nvSpPr>
          <p:cNvPr id="10" name="Shape 8"/>
          <p:cNvSpPr/>
          <p:nvPr/>
        </p:nvSpPr>
        <p:spPr>
          <a:xfrm>
            <a:off x="9326880" y="1737360"/>
            <a:ext cx="1828800" cy="1005840"/>
          </a:xfrm>
          <a:prstGeom prst="ellipse">
            <a:avLst/>
          </a:prstGeom>
          <a:ln w="63500">
            <a:solidFill>
              <a:srgbClr val="101C34"/>
            </a:solidFill>
            <a:prstDash val="solid"/>
          </a:ln>
        </p:spPr>
      </p:sp>
      <p:sp>
        <p:nvSpPr>
          <p:cNvPr id="11" name="Text 9"/>
          <p:cNvSpPr txBox="1"/>
          <p:nvPr/>
        </p:nvSpPr>
        <p:spPr>
          <a:xfrm>
            <a:off x="822960" y="3383280"/>
            <a:ext cx="10607040" cy="731520"/>
          </a:xfrm>
          <a:prstGeom prst="rect">
            <a:avLst/>
          </a:prstGeom>
          <a:noFill/>
          <a:ln/>
        </p:spPr>
        <p:txBody>
          <a:bodyPr wrap="square" lIns="0" tIns="0" rIns="0" bIns="0" rtlCol="0" anchor="ctr"/>
          <a:lstStyle/>
          <a:p>
            <a:pPr indent="0" marL="0">
              <a:buNone/>
            </a:pPr>
            <a:r>
              <a:rPr lang="en-US" sz="3000" i="1" dirty="0">
                <a:solidFill>
                  <a:srgbClr val="101C34"/>
                </a:solidFill>
                <a:latin typeface="Cambria" pitchFamily="34" charset="0"/>
                <a:ea typeface="Cambria" pitchFamily="34" charset="-122"/>
                <a:cs typeface="Cambria" pitchFamily="34" charset="-120"/>
              </a:rPr>
              <a:t>“O cordão de três dobras não se rompe facilmente.”</a:t>
            </a:r>
            <a:endParaRPr lang="en-US" sz="3000" dirty="0"/>
          </a:p>
        </p:txBody>
      </p:sp>
      <p:sp>
        <p:nvSpPr>
          <p:cNvPr id="12" name="Text 10"/>
          <p:cNvSpPr txBox="1"/>
          <p:nvPr/>
        </p:nvSpPr>
        <p:spPr>
          <a:xfrm>
            <a:off x="822960" y="4114800"/>
            <a:ext cx="10607040" cy="365760"/>
          </a:xfrm>
          <a:prstGeom prst="rect">
            <a:avLst/>
          </a:prstGeom>
          <a:noFill/>
          <a:ln/>
        </p:spPr>
        <p:txBody>
          <a:bodyPr wrap="square" lIns="0" tIns="0" rIns="0" bIns="0" rtlCol="0" anchor="ctr"/>
          <a:lstStyle/>
          <a:p>
            <a:pPr indent="0" marL="0">
              <a:buNone/>
            </a:pPr>
            <a:r>
              <a:rPr lang="en-US" sz="1600" dirty="0">
                <a:solidFill>
                  <a:srgbClr val="5E6676"/>
                </a:solidFill>
                <a:latin typeface="Calibri" pitchFamily="34" charset="0"/>
                <a:ea typeface="Calibri" pitchFamily="34" charset="-122"/>
                <a:cs typeface="Calibri" pitchFamily="34" charset="-120"/>
              </a:rPr>
              <a:t>Eclesiastes 4:12</a:t>
            </a:r>
            <a:endParaRPr lang="en-US" sz="1600" dirty="0"/>
          </a:p>
        </p:txBody>
      </p:sp>
      <p:sp>
        <p:nvSpPr>
          <p:cNvPr id="13" name="Text 11"/>
          <p:cNvSpPr txBox="1"/>
          <p:nvPr/>
        </p:nvSpPr>
        <p:spPr>
          <a:xfrm>
            <a:off x="822960" y="4846320"/>
            <a:ext cx="10607040" cy="1280160"/>
          </a:xfrm>
          <a:prstGeom prst="rect">
            <a:avLst/>
          </a:prstGeom>
          <a:noFill/>
          <a:ln/>
        </p:spPr>
        <p:txBody>
          <a:bodyPr wrap="square" lIns="0" tIns="0" rIns="0" bIns="0" rtlCol="0" anchor="t"/>
          <a:lstStyle/>
          <a:p>
            <a:pPr marL="228600" indent="-228600">
              <a:spcAft>
                <a:spcPts val="1400"/>
              </a:spcAft>
              <a:buSzPct val="100000"/>
              <a:buChar char="•"/>
            </a:pPr>
            <a:r>
              <a:rPr lang="en-US" sz="2200" dirty="0">
                <a:solidFill>
                  <a:srgbClr val="1B2438"/>
                </a:solidFill>
                <a:latin typeface="Calibri" pitchFamily="34" charset="0"/>
                <a:ea typeface="Calibri" pitchFamily="34" charset="-122"/>
                <a:cs typeface="Calibri" pitchFamily="34" charset="-120"/>
              </a:rPr>
              <a:t>Cada nó, um Irmão; cada trecho, um vínculo</a:t>
            </a:r>
            <a:endParaRPr lang="en-US" sz="2200" dirty="0"/>
          </a:p>
          <a:p>
            <a:pPr marL="228600" indent="-228600">
              <a:spcAft>
                <a:spcPts val="1400"/>
              </a:spcAft>
              <a:buSzPct val="100000"/>
              <a:buChar char="•"/>
            </a:pPr>
            <a:r>
              <a:rPr lang="en-US" sz="2200" dirty="0">
                <a:solidFill>
                  <a:srgbClr val="1B2438"/>
                </a:solidFill>
                <a:latin typeface="Calibri" pitchFamily="34" charset="0"/>
                <a:ea typeface="Calibri" pitchFamily="34" charset="-122"/>
                <a:cs typeface="Calibri" pitchFamily="34" charset="-120"/>
              </a:rPr>
              <a:t>A força da corda é a do seu nó mais frágil</a:t>
            </a:r>
            <a:endParaRPr lang="en-US" sz="2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676"/>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68680"/>
          </a:xfrm>
          <a:prstGeom prst="rect">
            <a:avLst/>
          </a:prstGeom>
          <a:noFill/>
          <a:ln/>
        </p:spPr>
        <p:txBody>
          <a:bodyPr wrap="square" lIns="0" tIns="0" rIns="0" bIns="0" rtlCol="0" anchor="ctr"/>
          <a:lstStyle/>
          <a:p>
            <a:pPr indent="0" marL="0">
              <a:buNone/>
            </a:pPr>
            <a:r>
              <a:rPr lang="en-US" sz="3600" b="1" dirty="0">
                <a:solidFill>
                  <a:srgbClr val="101C34"/>
                </a:solidFill>
                <a:latin typeface="Cambria" pitchFamily="34" charset="0"/>
                <a:ea typeface="Cambria" pitchFamily="34" charset="-122"/>
                <a:cs typeface="Cambria" pitchFamily="34" charset="-120"/>
              </a:rPr>
              <a:t>Fronteira e Cadeia de União</a:t>
            </a:r>
            <a:endParaRPr lang="en-US" sz="3600" dirty="0"/>
          </a:p>
        </p:txBody>
      </p:sp>
      <p:sp>
        <p:nvSpPr>
          <p:cNvPr id="3" name="Text 1"/>
          <p:cNvSpPr txBox="1"/>
          <p:nvPr/>
        </p:nvSpPr>
        <p:spPr>
          <a:xfrm>
            <a:off x="11247120" y="6400800"/>
            <a:ext cx="457200" cy="274320"/>
          </a:xfrm>
          <a:prstGeom prst="rect">
            <a:avLst/>
          </a:prstGeom>
          <a:noFill/>
          <a:ln/>
        </p:spPr>
        <p:txBody>
          <a:bodyPr wrap="square" rtlCol="0" anchor="ctr"/>
          <a:lstStyle/>
          <a:p>
            <a:pPr indent="0" marL="0">
              <a:buNone/>
            </a:pPr>
            <a:endParaRPr lang="en-US" dirty="0"/>
          </a:p>
        </p:txBody>
      </p:sp>
      <p:sp>
        <p:nvSpPr>
          <p:cNvPr id="4" name="Shape 2"/>
          <p:cNvSpPr/>
          <p:nvPr/>
        </p:nvSpPr>
        <p:spPr>
          <a:xfrm>
            <a:off x="3035808" y="1618488"/>
            <a:ext cx="512064" cy="512064"/>
          </a:xfrm>
          <a:prstGeom prst="ellipse">
            <a:avLst/>
          </a:prstGeom>
          <a:solidFill>
            <a:srgbClr val="101C34"/>
          </a:solidFill>
          <a:ln w="12700">
            <a:solidFill>
              <a:srgbClr val="FFFFFF"/>
            </a:solidFill>
            <a:prstDash val="solid"/>
          </a:ln>
        </p:spPr>
      </p:sp>
      <p:sp>
        <p:nvSpPr>
          <p:cNvPr id="5" name="Shape 3"/>
          <p:cNvSpPr/>
          <p:nvPr/>
        </p:nvSpPr>
        <p:spPr>
          <a:xfrm>
            <a:off x="4270114" y="2067739"/>
            <a:ext cx="512064" cy="512064"/>
          </a:xfrm>
          <a:prstGeom prst="ellipse">
            <a:avLst/>
          </a:prstGeom>
          <a:solidFill>
            <a:srgbClr val="B8975A"/>
          </a:solidFill>
          <a:ln w="12700">
            <a:solidFill>
              <a:srgbClr val="FFFFFF"/>
            </a:solidFill>
            <a:prstDash val="solid"/>
          </a:ln>
        </p:spPr>
      </p:sp>
      <p:sp>
        <p:nvSpPr>
          <p:cNvPr id="6" name="Shape 4"/>
          <p:cNvSpPr/>
          <p:nvPr/>
        </p:nvSpPr>
        <p:spPr>
          <a:xfrm>
            <a:off x="4926875" y="3205282"/>
            <a:ext cx="512064" cy="512064"/>
          </a:xfrm>
          <a:prstGeom prst="ellipse">
            <a:avLst/>
          </a:prstGeom>
          <a:solidFill>
            <a:srgbClr val="101C34"/>
          </a:solidFill>
          <a:ln w="12700">
            <a:solidFill>
              <a:srgbClr val="FFFFFF"/>
            </a:solidFill>
            <a:prstDash val="solid"/>
          </a:ln>
        </p:spPr>
      </p:sp>
      <p:sp>
        <p:nvSpPr>
          <p:cNvPr id="7" name="Shape 5"/>
          <p:cNvSpPr/>
          <p:nvPr/>
        </p:nvSpPr>
        <p:spPr>
          <a:xfrm>
            <a:off x="4698785" y="4498848"/>
            <a:ext cx="512064" cy="512064"/>
          </a:xfrm>
          <a:prstGeom prst="ellipse">
            <a:avLst/>
          </a:prstGeom>
          <a:solidFill>
            <a:srgbClr val="B8975A"/>
          </a:solidFill>
          <a:ln w="12700">
            <a:solidFill>
              <a:srgbClr val="FFFFFF"/>
            </a:solidFill>
            <a:prstDash val="solid"/>
          </a:ln>
        </p:spPr>
      </p:sp>
      <p:sp>
        <p:nvSpPr>
          <p:cNvPr id="8" name="Shape 6"/>
          <p:cNvSpPr/>
          <p:nvPr/>
        </p:nvSpPr>
        <p:spPr>
          <a:xfrm>
            <a:off x="3692569" y="5343163"/>
            <a:ext cx="512064" cy="512064"/>
          </a:xfrm>
          <a:prstGeom prst="ellipse">
            <a:avLst/>
          </a:prstGeom>
          <a:solidFill>
            <a:srgbClr val="101C34"/>
          </a:solidFill>
          <a:ln w="12700">
            <a:solidFill>
              <a:srgbClr val="FFFFFF"/>
            </a:solidFill>
            <a:prstDash val="solid"/>
          </a:ln>
        </p:spPr>
      </p:sp>
      <p:sp>
        <p:nvSpPr>
          <p:cNvPr id="9" name="Shape 7"/>
          <p:cNvSpPr/>
          <p:nvPr/>
        </p:nvSpPr>
        <p:spPr>
          <a:xfrm>
            <a:off x="2379047" y="5343163"/>
            <a:ext cx="512064" cy="512064"/>
          </a:xfrm>
          <a:prstGeom prst="ellipse">
            <a:avLst/>
          </a:prstGeom>
          <a:solidFill>
            <a:srgbClr val="B8975A"/>
          </a:solidFill>
          <a:ln w="12700">
            <a:solidFill>
              <a:srgbClr val="FFFFFF"/>
            </a:solidFill>
            <a:prstDash val="solid"/>
          </a:ln>
        </p:spPr>
      </p:sp>
      <p:sp>
        <p:nvSpPr>
          <p:cNvPr id="10" name="Shape 8"/>
          <p:cNvSpPr/>
          <p:nvPr/>
        </p:nvSpPr>
        <p:spPr>
          <a:xfrm>
            <a:off x="1372831" y="4498848"/>
            <a:ext cx="512064" cy="512064"/>
          </a:xfrm>
          <a:prstGeom prst="ellipse">
            <a:avLst/>
          </a:prstGeom>
          <a:solidFill>
            <a:srgbClr val="101C34"/>
          </a:solidFill>
          <a:ln w="12700">
            <a:solidFill>
              <a:srgbClr val="FFFFFF"/>
            </a:solidFill>
            <a:prstDash val="solid"/>
          </a:ln>
        </p:spPr>
      </p:sp>
      <p:sp>
        <p:nvSpPr>
          <p:cNvPr id="11" name="Shape 9"/>
          <p:cNvSpPr/>
          <p:nvPr/>
        </p:nvSpPr>
        <p:spPr>
          <a:xfrm>
            <a:off x="1144741" y="3205282"/>
            <a:ext cx="512064" cy="512064"/>
          </a:xfrm>
          <a:prstGeom prst="ellipse">
            <a:avLst/>
          </a:prstGeom>
          <a:solidFill>
            <a:srgbClr val="B8975A"/>
          </a:solidFill>
          <a:ln w="12700">
            <a:solidFill>
              <a:srgbClr val="FFFFFF"/>
            </a:solidFill>
            <a:prstDash val="solid"/>
          </a:ln>
        </p:spPr>
      </p:sp>
      <p:sp>
        <p:nvSpPr>
          <p:cNvPr id="12" name="Shape 10"/>
          <p:cNvSpPr/>
          <p:nvPr/>
        </p:nvSpPr>
        <p:spPr>
          <a:xfrm>
            <a:off x="1801502" y="2067739"/>
            <a:ext cx="512064" cy="512064"/>
          </a:xfrm>
          <a:prstGeom prst="ellipse">
            <a:avLst/>
          </a:prstGeom>
          <a:solidFill>
            <a:srgbClr val="101C34"/>
          </a:solidFill>
          <a:ln w="12700">
            <a:solidFill>
              <a:srgbClr val="FFFFFF"/>
            </a:solidFill>
            <a:prstDash val="solid"/>
          </a:ln>
        </p:spPr>
      </p:sp>
      <p:sp>
        <p:nvSpPr>
          <p:cNvPr id="13" name="Shape 11"/>
          <p:cNvSpPr/>
          <p:nvPr/>
        </p:nvSpPr>
        <p:spPr>
          <a:xfrm>
            <a:off x="1371600" y="1874520"/>
            <a:ext cx="3840480" cy="3840480"/>
          </a:xfrm>
          <a:prstGeom prst="ellipse">
            <a:avLst/>
          </a:prstGeom>
          <a:ln w="25400">
            <a:solidFill>
              <a:srgbClr val="B8975A"/>
            </a:solidFill>
            <a:prstDash val="dash"/>
          </a:ln>
        </p:spPr>
      </p:sp>
      <p:sp>
        <p:nvSpPr>
          <p:cNvPr id="14" name="Shape 12"/>
          <p:cNvSpPr/>
          <p:nvPr/>
        </p:nvSpPr>
        <p:spPr>
          <a:xfrm>
            <a:off x="2560320" y="3291840"/>
            <a:ext cx="1463040" cy="1005840"/>
          </a:xfrm>
          <a:prstGeom prst="rect">
            <a:avLst/>
          </a:prstGeom>
          <a:solidFill>
            <a:srgbClr val="EEF0F4"/>
          </a:solidFill>
          <a:ln w="19050">
            <a:solidFill>
              <a:srgbClr val="101C34"/>
            </a:solidFill>
            <a:prstDash val="solid"/>
          </a:ln>
        </p:spPr>
      </p:sp>
      <p:sp>
        <p:nvSpPr>
          <p:cNvPr id="15" name="Text 13"/>
          <p:cNvSpPr txBox="1"/>
          <p:nvPr/>
        </p:nvSpPr>
        <p:spPr>
          <a:xfrm>
            <a:off x="2560320" y="3291840"/>
            <a:ext cx="1463040" cy="1005840"/>
          </a:xfrm>
          <a:prstGeom prst="rect">
            <a:avLst/>
          </a:prstGeom>
          <a:noFill/>
          <a:ln/>
        </p:spPr>
        <p:txBody>
          <a:bodyPr wrap="square" lIns="0" tIns="0" rIns="0" bIns="0" rtlCol="0" anchor="ctr"/>
          <a:lstStyle/>
          <a:p>
            <a:pPr algn="ctr" indent="0" marL="0">
              <a:buNone/>
            </a:pPr>
            <a:r>
              <a:rPr lang="en-US" sz="2000" b="1" dirty="0">
                <a:solidFill>
                  <a:srgbClr val="101C34"/>
                </a:solidFill>
                <a:latin typeface="Cambria" pitchFamily="34" charset="0"/>
                <a:ea typeface="Cambria" pitchFamily="34" charset="-122"/>
                <a:cs typeface="Cambria" pitchFamily="34" charset="-120"/>
              </a:rPr>
              <a:t>A Loja</a:t>
            </a:r>
            <a:endParaRPr lang="en-US" sz="2000" dirty="0"/>
          </a:p>
        </p:txBody>
      </p:sp>
      <p:sp>
        <p:nvSpPr>
          <p:cNvPr id="16" name="Text 14"/>
          <p:cNvSpPr txBox="1"/>
          <p:nvPr/>
        </p:nvSpPr>
        <p:spPr>
          <a:xfrm>
            <a:off x="6400800" y="2011680"/>
            <a:ext cx="5303520" cy="3474720"/>
          </a:xfrm>
          <a:prstGeom prst="rect">
            <a:avLst/>
          </a:prstGeom>
          <a:noFill/>
          <a:ln/>
        </p:spPr>
        <p:txBody>
          <a:bodyPr wrap="square" lIns="0" tIns="0" rIns="0" bIns="0" rtlCol="0" anchor="t"/>
          <a:lstStyle/>
          <a:p>
            <a:pPr marL="228600" indent="-228600">
              <a:spcAft>
                <a:spcPts val="1400"/>
              </a:spcAft>
              <a:buSzPct val="100000"/>
              <a:buChar char="•"/>
            </a:pPr>
            <a:r>
              <a:rPr lang="en-US" sz="2200" dirty="0">
                <a:solidFill>
                  <a:srgbClr val="1B2438"/>
                </a:solidFill>
                <a:latin typeface="Calibri" pitchFamily="34" charset="0"/>
                <a:ea typeface="Calibri" pitchFamily="34" charset="-122"/>
                <a:cs typeface="Calibri" pitchFamily="34" charset="-120"/>
              </a:rPr>
              <a:t>Separa o Templo do mundo profano</a:t>
            </a:r>
            <a:endParaRPr lang="en-US" sz="2200" dirty="0"/>
          </a:p>
          <a:p>
            <a:pPr marL="228600" indent="-228600">
              <a:spcAft>
                <a:spcPts val="1400"/>
              </a:spcAft>
              <a:buSzPct val="100000"/>
              <a:buChar char="•"/>
            </a:pPr>
            <a:r>
              <a:rPr lang="en-US" sz="2200" dirty="0">
                <a:solidFill>
                  <a:srgbClr val="1B2438"/>
                </a:solidFill>
                <a:latin typeface="Calibri" pitchFamily="34" charset="0"/>
                <a:ea typeface="Calibri" pitchFamily="34" charset="-122"/>
                <a:cs typeface="Calibri" pitchFamily="34" charset="-120"/>
              </a:rPr>
              <a:t>É a Cadeia de União tornada permanente</a:t>
            </a:r>
            <a:endParaRPr lang="en-US" sz="2200" dirty="0"/>
          </a:p>
          <a:p>
            <a:pPr marL="228600" indent="-228600">
              <a:spcAft>
                <a:spcPts val="1400"/>
              </a:spcAft>
              <a:buSzPct val="100000"/>
              <a:buChar char="•"/>
            </a:pPr>
            <a:r>
              <a:rPr lang="en-US" sz="2200" dirty="0">
                <a:solidFill>
                  <a:srgbClr val="1B2438"/>
                </a:solidFill>
                <a:latin typeface="Calibri" pitchFamily="34" charset="0"/>
                <a:ea typeface="Calibri" pitchFamily="34" charset="-122"/>
                <a:cs typeface="Calibri" pitchFamily="34" charset="-120"/>
              </a:rPr>
              <a:t>A verdadeira guarda: a harmonia entre os Irmãos</a:t>
            </a:r>
            <a:endParaRPr lang="en-US" sz="2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676"/>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68680"/>
          </a:xfrm>
          <a:prstGeom prst="rect">
            <a:avLst/>
          </a:prstGeom>
          <a:noFill/>
          <a:ln/>
        </p:spPr>
        <p:txBody>
          <a:bodyPr wrap="square" lIns="0" tIns="0" rIns="0" bIns="0" rtlCol="0" anchor="ctr"/>
          <a:lstStyle/>
          <a:p>
            <a:pPr indent="0" marL="0">
              <a:buNone/>
            </a:pPr>
            <a:r>
              <a:rPr lang="en-US" sz="3600" b="1" dirty="0">
                <a:solidFill>
                  <a:srgbClr val="101C34"/>
                </a:solidFill>
                <a:latin typeface="Cambria" pitchFamily="34" charset="0"/>
                <a:ea typeface="Cambria" pitchFamily="34" charset="-122"/>
                <a:cs typeface="Cambria" pitchFamily="34" charset="-120"/>
              </a:rPr>
              <a:t>A Pátria também é uma corda</a:t>
            </a:r>
            <a:endParaRPr lang="en-US" sz="3600" dirty="0"/>
          </a:p>
        </p:txBody>
      </p:sp>
      <p:sp>
        <p:nvSpPr>
          <p:cNvPr id="3" name="Text 1"/>
          <p:cNvSpPr txBox="1"/>
          <p:nvPr/>
        </p:nvSpPr>
        <p:spPr>
          <a:xfrm>
            <a:off x="11247120" y="6400800"/>
            <a:ext cx="457200" cy="274320"/>
          </a:xfrm>
          <a:prstGeom prst="rect">
            <a:avLst/>
          </a:prstGeom>
          <a:noFill/>
          <a:ln/>
        </p:spPr>
        <p:txBody>
          <a:bodyPr wrap="square" rtlCol="0" anchor="ctr"/>
          <a:lstStyle/>
          <a:p>
            <a:pPr indent="0" marL="0">
              <a:buNone/>
            </a:pPr>
            <a:endParaRPr lang="en-US" dirty="0"/>
          </a:p>
        </p:txBody>
      </p:sp>
      <p:sp>
        <p:nvSpPr>
          <p:cNvPr id="4" name="Text 2"/>
          <p:cNvSpPr txBox="1"/>
          <p:nvPr/>
        </p:nvSpPr>
        <p:spPr>
          <a:xfrm>
            <a:off x="548640" y="1417320"/>
            <a:ext cx="11064240" cy="457200"/>
          </a:xfrm>
          <a:prstGeom prst="rect">
            <a:avLst/>
          </a:prstGeom>
          <a:noFill/>
          <a:ln/>
        </p:spPr>
        <p:txBody>
          <a:bodyPr wrap="square" lIns="0" tIns="0" rIns="0" bIns="0" rtlCol="0" anchor="ctr"/>
          <a:lstStyle/>
          <a:p>
            <a:pPr indent="0" marL="0">
              <a:buNone/>
            </a:pPr>
            <a:r>
              <a:rPr lang="en-US" sz="1800" i="1" dirty="0">
                <a:solidFill>
                  <a:srgbClr val="5E6676"/>
                </a:solidFill>
                <a:latin typeface="Calibri" pitchFamily="34" charset="0"/>
                <a:ea typeface="Calibri" pitchFamily="34" charset="-122"/>
                <a:cs typeface="Calibri" pitchFamily="34" charset="-120"/>
              </a:rPr>
              <a:t>1822 · Independência — José Bonifácio, Gonçalves Ledo; Dom Pedro I iniciado em 2 de agosto</a:t>
            </a:r>
            <a:endParaRPr lang="en-US" sz="1800" dirty="0"/>
          </a:p>
        </p:txBody>
      </p:sp>
      <p:sp>
        <p:nvSpPr>
          <p:cNvPr id="5" name="Shape 3"/>
          <p:cNvSpPr/>
          <p:nvPr/>
        </p:nvSpPr>
        <p:spPr>
          <a:xfrm>
            <a:off x="548640" y="2286000"/>
            <a:ext cx="3474720" cy="3017520"/>
          </a:xfrm>
          <a:prstGeom prst="roundRect">
            <a:avLst>
              <a:gd name="adj" fmla="val 3636"/>
            </a:avLst>
          </a:prstGeom>
          <a:solidFill>
            <a:srgbClr val="EEF0F4"/>
          </a:solidFill>
          <a:ln w="12700">
            <a:solidFill>
              <a:srgbClr val="EEF0F4"/>
            </a:solidFill>
            <a:prstDash val="solid"/>
          </a:ln>
        </p:spPr>
      </p:sp>
      <p:sp>
        <p:nvSpPr>
          <p:cNvPr id="6" name="Shape 4"/>
          <p:cNvSpPr/>
          <p:nvPr/>
        </p:nvSpPr>
        <p:spPr>
          <a:xfrm>
            <a:off x="868680" y="2606040"/>
            <a:ext cx="731520" cy="731520"/>
          </a:xfrm>
          <a:prstGeom prst="ellipse">
            <a:avLst/>
          </a:prstGeom>
          <a:solidFill>
            <a:srgbClr val="101C34"/>
          </a:solidFill>
          <a:ln w="12700">
            <a:solidFill>
              <a:srgbClr val="101C34"/>
            </a:solidFill>
            <a:prstDash val="solid"/>
          </a:ln>
        </p:spPr>
      </p:sp>
      <p:sp>
        <p:nvSpPr>
          <p:cNvPr id="7" name="Text 5"/>
          <p:cNvSpPr txBox="1"/>
          <p:nvPr/>
        </p:nvSpPr>
        <p:spPr>
          <a:xfrm>
            <a:off x="868680" y="2606040"/>
            <a:ext cx="731520" cy="731520"/>
          </a:xfrm>
          <a:prstGeom prst="rect">
            <a:avLst/>
          </a:prstGeom>
          <a:noFill/>
          <a:ln/>
        </p:spPr>
        <p:txBody>
          <a:bodyPr wrap="square" lIns="0" tIns="0" rIns="0" bIns="0" rtlCol="0" anchor="ctr"/>
          <a:lstStyle/>
          <a:p>
            <a:pPr algn="ctr" indent="0" marL="0">
              <a:buNone/>
            </a:pPr>
            <a:r>
              <a:rPr lang="en-US" sz="2600" b="1" dirty="0">
                <a:solidFill>
                  <a:srgbClr val="B8975A"/>
                </a:solidFill>
                <a:latin typeface="Cambria" pitchFamily="34" charset="0"/>
                <a:ea typeface="Cambria" pitchFamily="34" charset="-122"/>
                <a:cs typeface="Cambria" pitchFamily="34" charset="-120"/>
              </a:rPr>
              <a:t>1</a:t>
            </a:r>
            <a:endParaRPr lang="en-US" sz="2600" dirty="0"/>
          </a:p>
        </p:txBody>
      </p:sp>
      <p:sp>
        <p:nvSpPr>
          <p:cNvPr id="8" name="Text 6"/>
          <p:cNvSpPr txBox="1"/>
          <p:nvPr/>
        </p:nvSpPr>
        <p:spPr>
          <a:xfrm>
            <a:off x="868680" y="3566160"/>
            <a:ext cx="2834640" cy="548640"/>
          </a:xfrm>
          <a:prstGeom prst="rect">
            <a:avLst/>
          </a:prstGeom>
          <a:noFill/>
          <a:ln/>
        </p:spPr>
        <p:txBody>
          <a:bodyPr wrap="square" lIns="0" tIns="0" rIns="0" bIns="0" rtlCol="0" anchor="ctr"/>
          <a:lstStyle/>
          <a:p>
            <a:pPr indent="0" marL="0">
              <a:buNone/>
            </a:pPr>
            <a:r>
              <a:rPr lang="en-US" sz="2400" b="1" dirty="0">
                <a:solidFill>
                  <a:srgbClr val="101C34"/>
                </a:solidFill>
                <a:latin typeface="Cambria" pitchFamily="34" charset="0"/>
                <a:ea typeface="Cambria" pitchFamily="34" charset="-122"/>
                <a:cs typeface="Cambria" pitchFamily="34" charset="-120"/>
              </a:rPr>
              <a:t>Disciplina</a:t>
            </a:r>
            <a:endParaRPr lang="en-US" sz="2400" dirty="0"/>
          </a:p>
        </p:txBody>
      </p:sp>
      <p:sp>
        <p:nvSpPr>
          <p:cNvPr id="9" name="Text 7"/>
          <p:cNvSpPr txBox="1"/>
          <p:nvPr/>
        </p:nvSpPr>
        <p:spPr>
          <a:xfrm>
            <a:off x="868680" y="4160520"/>
            <a:ext cx="2834640" cy="914400"/>
          </a:xfrm>
          <a:prstGeom prst="rect">
            <a:avLst/>
          </a:prstGeom>
          <a:noFill/>
          <a:ln/>
        </p:spPr>
        <p:txBody>
          <a:bodyPr wrap="square" lIns="0" tIns="0" rIns="0" bIns="0" rtlCol="0" anchor="t"/>
          <a:lstStyle/>
          <a:p>
            <a:pPr indent="0" marL="0">
              <a:buNone/>
            </a:pPr>
            <a:r>
              <a:rPr lang="en-US" sz="1800" dirty="0">
                <a:solidFill>
                  <a:srgbClr val="1B2438"/>
                </a:solidFill>
                <a:latin typeface="Calibri" pitchFamily="34" charset="0"/>
                <a:ea typeface="Calibri" pitchFamily="34" charset="-122"/>
                <a:cs typeface="Calibri" pitchFamily="34" charset="-120"/>
              </a:rPr>
              <a:t>Ordem que sustenta a tropa e a Loja</a:t>
            </a:r>
            <a:endParaRPr lang="en-US" sz="1800" dirty="0"/>
          </a:p>
        </p:txBody>
      </p:sp>
      <p:sp>
        <p:nvSpPr>
          <p:cNvPr id="10" name="Shape 8"/>
          <p:cNvSpPr/>
          <p:nvPr/>
        </p:nvSpPr>
        <p:spPr>
          <a:xfrm>
            <a:off x="4297680" y="2286000"/>
            <a:ext cx="3474720" cy="3017520"/>
          </a:xfrm>
          <a:prstGeom prst="roundRect">
            <a:avLst>
              <a:gd name="adj" fmla="val 3636"/>
            </a:avLst>
          </a:prstGeom>
          <a:solidFill>
            <a:srgbClr val="EEF0F4"/>
          </a:solidFill>
          <a:ln w="12700">
            <a:solidFill>
              <a:srgbClr val="EEF0F4"/>
            </a:solidFill>
            <a:prstDash val="solid"/>
          </a:ln>
        </p:spPr>
      </p:sp>
      <p:sp>
        <p:nvSpPr>
          <p:cNvPr id="11" name="Shape 9"/>
          <p:cNvSpPr/>
          <p:nvPr/>
        </p:nvSpPr>
        <p:spPr>
          <a:xfrm>
            <a:off x="4617720" y="2606040"/>
            <a:ext cx="731520" cy="731520"/>
          </a:xfrm>
          <a:prstGeom prst="ellipse">
            <a:avLst/>
          </a:prstGeom>
          <a:solidFill>
            <a:srgbClr val="101C34"/>
          </a:solidFill>
          <a:ln w="12700">
            <a:solidFill>
              <a:srgbClr val="101C34"/>
            </a:solidFill>
            <a:prstDash val="solid"/>
          </a:ln>
        </p:spPr>
      </p:sp>
      <p:sp>
        <p:nvSpPr>
          <p:cNvPr id="12" name="Text 10"/>
          <p:cNvSpPr txBox="1"/>
          <p:nvPr/>
        </p:nvSpPr>
        <p:spPr>
          <a:xfrm>
            <a:off x="4617720" y="2606040"/>
            <a:ext cx="731520" cy="731520"/>
          </a:xfrm>
          <a:prstGeom prst="rect">
            <a:avLst/>
          </a:prstGeom>
          <a:noFill/>
          <a:ln/>
        </p:spPr>
        <p:txBody>
          <a:bodyPr wrap="square" lIns="0" tIns="0" rIns="0" bIns="0" rtlCol="0" anchor="ctr"/>
          <a:lstStyle/>
          <a:p>
            <a:pPr algn="ctr" indent="0" marL="0">
              <a:buNone/>
            </a:pPr>
            <a:r>
              <a:rPr lang="en-US" sz="2600" b="1" dirty="0">
                <a:solidFill>
                  <a:srgbClr val="B8975A"/>
                </a:solidFill>
                <a:latin typeface="Cambria" pitchFamily="34" charset="0"/>
                <a:ea typeface="Cambria" pitchFamily="34" charset="-122"/>
                <a:cs typeface="Cambria" pitchFamily="34" charset="-120"/>
              </a:rPr>
              <a:t>2</a:t>
            </a:r>
            <a:endParaRPr lang="en-US" sz="2600" dirty="0"/>
          </a:p>
        </p:txBody>
      </p:sp>
      <p:sp>
        <p:nvSpPr>
          <p:cNvPr id="13" name="Text 11"/>
          <p:cNvSpPr txBox="1"/>
          <p:nvPr/>
        </p:nvSpPr>
        <p:spPr>
          <a:xfrm>
            <a:off x="4617720" y="3566160"/>
            <a:ext cx="2834640" cy="548640"/>
          </a:xfrm>
          <a:prstGeom prst="rect">
            <a:avLst/>
          </a:prstGeom>
          <a:noFill/>
          <a:ln/>
        </p:spPr>
        <p:txBody>
          <a:bodyPr wrap="square" lIns="0" tIns="0" rIns="0" bIns="0" rtlCol="0" anchor="ctr"/>
          <a:lstStyle/>
          <a:p>
            <a:pPr indent="0" marL="0">
              <a:buNone/>
            </a:pPr>
            <a:r>
              <a:rPr lang="en-US" sz="2400" b="1" dirty="0">
                <a:solidFill>
                  <a:srgbClr val="101C34"/>
                </a:solidFill>
                <a:latin typeface="Cambria" pitchFamily="34" charset="0"/>
                <a:ea typeface="Cambria" pitchFamily="34" charset="-122"/>
                <a:cs typeface="Cambria" pitchFamily="34" charset="-120"/>
              </a:rPr>
              <a:t>Hierarquia</a:t>
            </a:r>
            <a:endParaRPr lang="en-US" sz="2400" dirty="0"/>
          </a:p>
        </p:txBody>
      </p:sp>
      <p:sp>
        <p:nvSpPr>
          <p:cNvPr id="14" name="Text 12"/>
          <p:cNvSpPr txBox="1"/>
          <p:nvPr/>
        </p:nvSpPr>
        <p:spPr>
          <a:xfrm>
            <a:off x="4617720" y="4160520"/>
            <a:ext cx="2834640" cy="914400"/>
          </a:xfrm>
          <a:prstGeom prst="rect">
            <a:avLst/>
          </a:prstGeom>
          <a:noFill/>
          <a:ln/>
        </p:spPr>
        <p:txBody>
          <a:bodyPr wrap="square" lIns="0" tIns="0" rIns="0" bIns="0" rtlCol="0" anchor="t"/>
          <a:lstStyle/>
          <a:p>
            <a:pPr indent="0" marL="0">
              <a:buNone/>
            </a:pPr>
            <a:r>
              <a:rPr lang="en-US" sz="1800" dirty="0">
                <a:solidFill>
                  <a:srgbClr val="1B2438"/>
                </a:solidFill>
                <a:latin typeface="Calibri" pitchFamily="34" charset="0"/>
                <a:ea typeface="Calibri" pitchFamily="34" charset="-122"/>
                <a:cs typeface="Calibri" pitchFamily="34" charset="-120"/>
              </a:rPr>
              <a:t>Entendida como serviço: cadeia de comando e Cadeia de União</a:t>
            </a:r>
            <a:endParaRPr lang="en-US" sz="1800" dirty="0"/>
          </a:p>
        </p:txBody>
      </p:sp>
      <p:sp>
        <p:nvSpPr>
          <p:cNvPr id="15" name="Shape 13"/>
          <p:cNvSpPr/>
          <p:nvPr/>
        </p:nvSpPr>
        <p:spPr>
          <a:xfrm>
            <a:off x="8046720" y="2286000"/>
            <a:ext cx="3474720" cy="3017520"/>
          </a:xfrm>
          <a:prstGeom prst="roundRect">
            <a:avLst>
              <a:gd name="adj" fmla="val 3636"/>
            </a:avLst>
          </a:prstGeom>
          <a:solidFill>
            <a:srgbClr val="EEF0F4"/>
          </a:solidFill>
          <a:ln w="12700">
            <a:solidFill>
              <a:srgbClr val="EEF0F4"/>
            </a:solidFill>
            <a:prstDash val="solid"/>
          </a:ln>
        </p:spPr>
      </p:sp>
      <p:sp>
        <p:nvSpPr>
          <p:cNvPr id="16" name="Shape 14"/>
          <p:cNvSpPr/>
          <p:nvPr/>
        </p:nvSpPr>
        <p:spPr>
          <a:xfrm>
            <a:off x="8366760" y="2606040"/>
            <a:ext cx="731520" cy="731520"/>
          </a:xfrm>
          <a:prstGeom prst="ellipse">
            <a:avLst/>
          </a:prstGeom>
          <a:solidFill>
            <a:srgbClr val="101C34"/>
          </a:solidFill>
          <a:ln w="12700">
            <a:solidFill>
              <a:srgbClr val="101C34"/>
            </a:solidFill>
            <a:prstDash val="solid"/>
          </a:ln>
        </p:spPr>
      </p:sp>
      <p:sp>
        <p:nvSpPr>
          <p:cNvPr id="17" name="Text 15"/>
          <p:cNvSpPr txBox="1"/>
          <p:nvPr/>
        </p:nvSpPr>
        <p:spPr>
          <a:xfrm>
            <a:off x="8366760" y="2606040"/>
            <a:ext cx="731520" cy="731520"/>
          </a:xfrm>
          <a:prstGeom prst="rect">
            <a:avLst/>
          </a:prstGeom>
          <a:noFill/>
          <a:ln/>
        </p:spPr>
        <p:txBody>
          <a:bodyPr wrap="square" lIns="0" tIns="0" rIns="0" bIns="0" rtlCol="0" anchor="ctr"/>
          <a:lstStyle/>
          <a:p>
            <a:pPr algn="ctr" indent="0" marL="0">
              <a:buNone/>
            </a:pPr>
            <a:r>
              <a:rPr lang="en-US" sz="2600" b="1" dirty="0">
                <a:solidFill>
                  <a:srgbClr val="B8975A"/>
                </a:solidFill>
                <a:latin typeface="Cambria" pitchFamily="34" charset="0"/>
                <a:ea typeface="Cambria" pitchFamily="34" charset="-122"/>
                <a:cs typeface="Cambria" pitchFamily="34" charset="-120"/>
              </a:rPr>
              <a:t>3</a:t>
            </a:r>
            <a:endParaRPr lang="en-US" sz="2600" dirty="0"/>
          </a:p>
        </p:txBody>
      </p:sp>
      <p:sp>
        <p:nvSpPr>
          <p:cNvPr id="18" name="Text 16"/>
          <p:cNvSpPr txBox="1"/>
          <p:nvPr/>
        </p:nvSpPr>
        <p:spPr>
          <a:xfrm>
            <a:off x="8366760" y="3566160"/>
            <a:ext cx="2834640" cy="548640"/>
          </a:xfrm>
          <a:prstGeom prst="rect">
            <a:avLst/>
          </a:prstGeom>
          <a:noFill/>
          <a:ln/>
        </p:spPr>
        <p:txBody>
          <a:bodyPr wrap="square" lIns="0" tIns="0" rIns="0" bIns="0" rtlCol="0" anchor="ctr"/>
          <a:lstStyle/>
          <a:p>
            <a:pPr indent="0" marL="0">
              <a:buNone/>
            </a:pPr>
            <a:r>
              <a:rPr lang="en-US" sz="2400" b="1" dirty="0">
                <a:solidFill>
                  <a:srgbClr val="101C34"/>
                </a:solidFill>
                <a:latin typeface="Cambria" pitchFamily="34" charset="0"/>
                <a:ea typeface="Cambria" pitchFamily="34" charset="-122"/>
                <a:cs typeface="Cambria" pitchFamily="34" charset="-120"/>
              </a:rPr>
              <a:t>Lealdade</a:t>
            </a:r>
            <a:endParaRPr lang="en-US" sz="2400" dirty="0"/>
          </a:p>
        </p:txBody>
      </p:sp>
      <p:sp>
        <p:nvSpPr>
          <p:cNvPr id="19" name="Text 17"/>
          <p:cNvSpPr txBox="1"/>
          <p:nvPr/>
        </p:nvSpPr>
        <p:spPr>
          <a:xfrm>
            <a:off x="8366760" y="4160520"/>
            <a:ext cx="2834640" cy="914400"/>
          </a:xfrm>
          <a:prstGeom prst="rect">
            <a:avLst/>
          </a:prstGeom>
          <a:noFill/>
          <a:ln/>
        </p:spPr>
        <p:txBody>
          <a:bodyPr wrap="square" lIns="0" tIns="0" rIns="0" bIns="0" rtlCol="0" anchor="t"/>
          <a:lstStyle/>
          <a:p>
            <a:pPr indent="0" marL="0">
              <a:buNone/>
            </a:pPr>
            <a:r>
              <a:rPr lang="en-US" sz="1800" dirty="0">
                <a:solidFill>
                  <a:srgbClr val="1B2438"/>
                </a:solidFill>
                <a:latin typeface="Calibri" pitchFamily="34" charset="0"/>
                <a:ea typeface="Calibri" pitchFamily="34" charset="-122"/>
                <a:cs typeface="Calibri" pitchFamily="34" charset="-120"/>
              </a:rPr>
              <a:t>Ao Irmão, ao camarada, à Pátria</a:t>
            </a:r>
            <a:endParaRPr lang="en-US" sz="1800" dirty="0"/>
          </a:p>
        </p:txBody>
      </p:sp>
      <p:sp>
        <p:nvSpPr>
          <p:cNvPr id="20" name="Text 18"/>
          <p:cNvSpPr txBox="1"/>
          <p:nvPr/>
        </p:nvSpPr>
        <p:spPr>
          <a:xfrm>
            <a:off x="548640" y="5623560"/>
            <a:ext cx="11064240" cy="548640"/>
          </a:xfrm>
          <a:prstGeom prst="rect">
            <a:avLst/>
          </a:prstGeom>
          <a:noFill/>
          <a:ln/>
        </p:spPr>
        <p:txBody>
          <a:bodyPr wrap="square" lIns="0" tIns="0" rIns="0" bIns="0" rtlCol="0" anchor="ctr"/>
          <a:lstStyle/>
          <a:p>
            <a:pPr indent="0" marL="0">
              <a:buNone/>
            </a:pPr>
            <a:r>
              <a:rPr lang="en-US" sz="1800" dirty="0">
                <a:solidFill>
                  <a:srgbClr val="1B2438"/>
                </a:solidFill>
                <a:latin typeface="Calibri" pitchFamily="34" charset="0"/>
                <a:ea typeface="Calibri" pitchFamily="34" charset="-122"/>
                <a:cs typeface="Calibri" pitchFamily="34" charset="-120"/>
              </a:rPr>
              <a:t>Sem partidarismo: o amor à Pátria se mede pelo trabalho honesto, pelo respeito às leis e pela palavra cumprida.</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676"/>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01C34"/>
        </a:solidFill>
      </p:bgPr>
    </p:bg>
    <p:spTree>
      <p:nvGrpSpPr>
        <p:cNvPr id="1" name=""/>
        <p:cNvGrpSpPr/>
        <p:nvPr/>
      </p:nvGrpSpPr>
      <p:grpSpPr>
        <a:xfrm>
          <a:off x="0" y="0"/>
          <a:ext cx="0" cy="0"/>
          <a:chOff x="0" y="0"/>
          <a:chExt cx="0" cy="0"/>
        </a:xfrm>
      </p:grpSpPr>
      <p:sp>
        <p:nvSpPr>
          <p:cNvPr id="2" name="Text 0"/>
          <p:cNvSpPr txBox="1"/>
          <p:nvPr/>
        </p:nvSpPr>
        <p:spPr>
          <a:xfrm>
            <a:off x="731520" y="1645920"/>
            <a:ext cx="10698480" cy="164592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O meu nó está firme?</a:t>
            </a:r>
            <a:endParaRPr lang="en-US" sz="4800" dirty="0"/>
          </a:p>
        </p:txBody>
      </p:sp>
      <p:sp>
        <p:nvSpPr>
          <p:cNvPr id="3" name="Text 1"/>
          <p:cNvSpPr txBox="1"/>
          <p:nvPr/>
        </p:nvSpPr>
        <p:spPr>
          <a:xfrm>
            <a:off x="731520" y="3566160"/>
            <a:ext cx="10698480" cy="1097280"/>
          </a:xfrm>
          <a:prstGeom prst="rect">
            <a:avLst/>
          </a:prstGeom>
          <a:noFill/>
          <a:ln/>
        </p:spPr>
        <p:txBody>
          <a:bodyPr wrap="square" lIns="0" tIns="0" rIns="0" bIns="0" rtlCol="0" anchor="t"/>
          <a:lstStyle/>
          <a:p>
            <a:pPr indent="0" marL="0">
              <a:buNone/>
            </a:pPr>
            <a:r>
              <a:rPr lang="en-US" sz="2200" dirty="0">
                <a:solidFill>
                  <a:srgbClr val="D8C9A8"/>
                </a:solidFill>
                <a:latin typeface="Calibri" pitchFamily="34" charset="0"/>
                <a:ea typeface="Calibri" pitchFamily="34" charset="-122"/>
                <a:cs typeface="Calibri" pitchFamily="34" charset="-120"/>
              </a:rPr>
              <a:t>Medida e retidão · Plenitude · União · Fronteira · Pátria</a:t>
            </a:r>
            <a:endParaRPr lang="en-US" sz="2200" dirty="0"/>
          </a:p>
        </p:txBody>
      </p:sp>
      <p:sp>
        <p:nvSpPr>
          <p:cNvPr id="4" name="Text 2"/>
          <p:cNvSpPr txBox="1"/>
          <p:nvPr/>
        </p:nvSpPr>
        <p:spPr>
          <a:xfrm>
            <a:off x="731520" y="5669280"/>
            <a:ext cx="10698480" cy="457200"/>
          </a:xfrm>
          <a:prstGeom prst="rect">
            <a:avLst/>
          </a:prstGeom>
          <a:noFill/>
          <a:ln/>
        </p:spPr>
        <p:txBody>
          <a:bodyPr wrap="square" lIns="0" tIns="0" rIns="0" bIns="0" rtlCol="0" anchor="ctr"/>
          <a:lstStyle/>
          <a:p>
            <a:pPr indent="0" marL="0">
              <a:buNone/>
            </a:pPr>
            <a:r>
              <a:rPr lang="en-US" sz="2000" i="1" dirty="0">
                <a:solidFill>
                  <a:srgbClr val="FFFFFF"/>
                </a:solidFill>
                <a:latin typeface="Calibri" pitchFamily="34" charset="0"/>
                <a:ea typeface="Calibri" pitchFamily="34" charset="-122"/>
                <a:cs typeface="Calibri" pitchFamily="34" charset="-120"/>
              </a:rPr>
              <a:t>Tenho dito.</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Corda de 81 Nós no Rito Brasileiro</dc:title>
  <dc:subject>PptxGenJS Presentation</dc:subject>
  <dc:creator>Ir.: Giovanni</dc:creator>
  <cp:lastModifiedBy>Ir.: Giovanni</cp:lastModifiedBy>
  <cp:revision>1</cp:revision>
  <dcterms:created xsi:type="dcterms:W3CDTF">2026-10-26T12:25:38Z</dcterms:created>
  <dcterms:modified xsi:type="dcterms:W3CDTF">2026-10-26T12:25:38Z</dcterms:modified>
</cp:coreProperties>
</file>